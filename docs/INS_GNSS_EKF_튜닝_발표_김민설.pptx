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30410c5cd94a05" /><Relationship Type="http://schemas.openxmlformats.org/officeDocument/2006/relationships/extended-properties" Target="/docProps/app.xml" Id="R3aef99fb447642ce" /><Relationship Type="http://schemas.openxmlformats.org/officeDocument/2006/relationships/officeDocument" Target="/ppt/presentation.xml" Id="R25fdf822b24944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26af4194b04e46"/>
  </p:sldMasterIdLst>
  <p:notesMasterIdLst>
    <p:notesMasterId xmlns:r="http://schemas.openxmlformats.org/officeDocument/2006/relationships" r:id="Rad42db80736e44c1"/>
  </p:notesMasterIdLst>
  <p:sldIdLst>
    <p:sldId xmlns:r="http://schemas.openxmlformats.org/officeDocument/2006/relationships" id="256" r:id="R0cf5f464c62044fe"/>
    <p:sldId xmlns:r="http://schemas.openxmlformats.org/officeDocument/2006/relationships" id="257" r:id="R393dfe7bf2ff463e"/>
    <p:sldId xmlns:r="http://schemas.openxmlformats.org/officeDocument/2006/relationships" id="258" r:id="R344e9c171ca24810"/>
    <p:sldId xmlns:r="http://schemas.openxmlformats.org/officeDocument/2006/relationships" id="259" r:id="Rcc33a415b36a4f98"/>
    <p:sldId xmlns:r="http://schemas.openxmlformats.org/officeDocument/2006/relationships" id="260" r:id="Rbf711b6cb36c4915"/>
    <p:sldId xmlns:r="http://schemas.openxmlformats.org/officeDocument/2006/relationships" id="261" r:id="Rc114887cd83d4621"/>
    <p:sldId xmlns:r="http://schemas.openxmlformats.org/officeDocument/2006/relationships" id="262" r:id="Rb0b941fba1934e03"/>
    <p:sldId xmlns:r="http://schemas.openxmlformats.org/officeDocument/2006/relationships" id="263" r:id="R5742881f77ca4954"/>
    <p:sldId xmlns:r="http://schemas.openxmlformats.org/officeDocument/2006/relationships" id="264" r:id="Rc219d1ed4ebf469b"/>
    <p:sldId xmlns:r="http://schemas.openxmlformats.org/officeDocument/2006/relationships" id="265" r:id="R326e80bef0a0453a"/>
    <p:sldId xmlns:r="http://schemas.openxmlformats.org/officeDocument/2006/relationships" id="266" r:id="R0a4812ccd76f482e"/>
    <p:sldId xmlns:r="http://schemas.openxmlformats.org/officeDocument/2006/relationships" id="267" r:id="Rcd2b46ac99ac4621"/>
    <p:sldId xmlns:r="http://schemas.openxmlformats.org/officeDocument/2006/relationships" id="268" r:id="Rc3e7825f5c7e4cf7"/>
    <p:sldId xmlns:r="http://schemas.openxmlformats.org/officeDocument/2006/relationships" id="269" r:id="R397cdd88aa604f31"/>
    <p:sldId xmlns:r="http://schemas.openxmlformats.org/officeDocument/2006/relationships" id="270" r:id="R94562af7221d4117"/>
    <p:sldId xmlns:r="http://schemas.openxmlformats.org/officeDocument/2006/relationships" id="271" r:id="R6679b91f3db34bad"/>
    <p:sldId xmlns:r="http://schemas.openxmlformats.org/officeDocument/2006/relationships" id="272" r:id="R8b0b9b4ad0bd4ca5"/>
    <p:sldId xmlns:r="http://schemas.openxmlformats.org/officeDocument/2006/relationships" id="273" r:id="R0e6ffbef14a640b3"/>
    <p:sldId xmlns:r="http://schemas.openxmlformats.org/officeDocument/2006/relationships" id="274" r:id="R26203f6596b2437b"/>
    <p:sldId xmlns:r="http://schemas.openxmlformats.org/officeDocument/2006/relationships" id="275" r:id="R8b711e692aa74917"/>
    <p:sldId xmlns:r="http://schemas.openxmlformats.org/officeDocument/2006/relationships" id="276" r:id="Rda97b64cd01c4bc4"/>
    <p:sldId xmlns:r="http://schemas.openxmlformats.org/officeDocument/2006/relationships" id="277" r:id="Rd45ecddb82db4191"/>
    <p:sldId xmlns:r="http://schemas.openxmlformats.org/officeDocument/2006/relationships" id="278" r:id="Rd3fdf7ab6ca04322"/>
    <p:sldId xmlns:r="http://schemas.openxmlformats.org/officeDocument/2006/relationships" id="279" r:id="R66091a90b330499a"/>
    <p:sldId xmlns:r="http://schemas.openxmlformats.org/officeDocument/2006/relationships" id="280" r:id="Rd1fcf8b38e974c26"/>
    <p:sldId xmlns:r="http://schemas.openxmlformats.org/officeDocument/2006/relationships" id="281" r:id="R80065ee98b8443db"/>
    <p:sldId xmlns:r="http://schemas.openxmlformats.org/officeDocument/2006/relationships" id="282" r:id="Rc87332b1c9fc4c94"/>
    <p:sldId xmlns:r="http://schemas.openxmlformats.org/officeDocument/2006/relationships" id="283" r:id="R3e21a9dab82743f5"/>
    <p:sldId xmlns:r="http://schemas.openxmlformats.org/officeDocument/2006/relationships" id="284" r:id="R456bc605c91d493c"/>
    <p:sldId xmlns:r="http://schemas.openxmlformats.org/officeDocument/2006/relationships" id="285" r:id="R16f0b79dd7544c56"/>
    <p:sldId xmlns:r="http://schemas.openxmlformats.org/officeDocument/2006/relationships" id="286" r:id="Ra444c979614b4947"/>
    <p:sldId xmlns:r="http://schemas.openxmlformats.org/officeDocument/2006/relationships" id="287" r:id="R02f72a864c9147c8"/>
    <p:sldId xmlns:r="http://schemas.openxmlformats.org/officeDocument/2006/relationships" id="288" r:id="R9c790878745f47c7"/>
    <p:sldId xmlns:r="http://schemas.openxmlformats.org/officeDocument/2006/relationships" id="289" r:id="R9badaeaf96474e5d"/>
    <p:sldId xmlns:r="http://schemas.openxmlformats.org/officeDocument/2006/relationships" id="290" r:id="R8804bf3267f14e15"/>
    <p:sldId xmlns:r="http://schemas.openxmlformats.org/officeDocument/2006/relationships" id="291" r:id="R5424b2cd316e4c2e"/>
    <p:sldId xmlns:r="http://schemas.openxmlformats.org/officeDocument/2006/relationships" id="292" r:id="Rd59e9853d20a4d41"/>
    <p:sldId xmlns:r="http://schemas.openxmlformats.org/officeDocument/2006/relationships" id="293" r:id="R5775a8b22302498a"/>
    <p:sldId xmlns:r="http://schemas.openxmlformats.org/officeDocument/2006/relationships" id="294" r:id="R459e8c954b4a4e72"/>
    <p:sldId xmlns:r="http://schemas.openxmlformats.org/officeDocument/2006/relationships" id="295" r:id="Re6f2dd21be2b4b0d"/>
    <p:sldId xmlns:r="http://schemas.openxmlformats.org/officeDocument/2006/relationships" id="296" r:id="R367a4c05220b4e91"/>
    <p:sldId xmlns:r="http://schemas.openxmlformats.org/officeDocument/2006/relationships" id="297" r:id="Ree95360f725a44ef"/>
    <p:sldId xmlns:r="http://schemas.openxmlformats.org/officeDocument/2006/relationships" id="298" r:id="Rc98a94c57b024a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1a537b69214c5f" /><Relationship Type="http://schemas.openxmlformats.org/officeDocument/2006/relationships/slideMaster" Target="/ppt/slideMasters/slideMaster1.xml" Id="R0d26af4194b04e46" /><Relationship Type="http://schemas.openxmlformats.org/officeDocument/2006/relationships/notesMaster" Target="/ppt/notesMasters/notesMaster1.xml" Id="Rad42db80736e44c1" /><Relationship Type="http://schemas.openxmlformats.org/officeDocument/2006/relationships/presProps" Target="/ppt/presProps.xml" Id="Rc49fdbd99db34de9" /><Relationship Type="http://schemas.openxmlformats.org/officeDocument/2006/relationships/tableStyles" Target="/ppt/tableStyles.xml" Id="Rc45f23aebc404fa5" /><Relationship Type="http://schemas.openxmlformats.org/officeDocument/2006/relationships/slide" Target="/ppt/slides/slide1.xml" Id="R0cf5f464c62044fe" /><Relationship Type="http://schemas.openxmlformats.org/officeDocument/2006/relationships/slide" Target="/ppt/slides/slide2.xml" Id="R393dfe7bf2ff463e" /><Relationship Type="http://schemas.openxmlformats.org/officeDocument/2006/relationships/slide" Target="/ppt/slides/slide3.xml" Id="R344e9c171ca24810" /><Relationship Type="http://schemas.openxmlformats.org/officeDocument/2006/relationships/slide" Target="/ppt/slides/slide4.xml" Id="Rcc33a415b36a4f98" /><Relationship Type="http://schemas.openxmlformats.org/officeDocument/2006/relationships/slide" Target="/ppt/slides/slide5.xml" Id="Rbf711b6cb36c4915" /><Relationship Type="http://schemas.openxmlformats.org/officeDocument/2006/relationships/slide" Target="/ppt/slides/slide6.xml" Id="Rc114887cd83d4621" /><Relationship Type="http://schemas.openxmlformats.org/officeDocument/2006/relationships/slide" Target="/ppt/slides/slide7.xml" Id="Rb0b941fba1934e03" /><Relationship Type="http://schemas.openxmlformats.org/officeDocument/2006/relationships/slide" Target="/ppt/slides/slide8.xml" Id="R5742881f77ca4954" /><Relationship Type="http://schemas.openxmlformats.org/officeDocument/2006/relationships/slide" Target="/ppt/slides/slide9.xml" Id="Rc219d1ed4ebf469b" /><Relationship Type="http://schemas.openxmlformats.org/officeDocument/2006/relationships/slide" Target="/ppt/slides/slide10.xml" Id="R326e80bef0a0453a" /><Relationship Type="http://schemas.openxmlformats.org/officeDocument/2006/relationships/slide" Target="/ppt/slides/slide11.xml" Id="R0a4812ccd76f482e" /><Relationship Type="http://schemas.openxmlformats.org/officeDocument/2006/relationships/slide" Target="/ppt/slides/slide12.xml" Id="Rcd2b46ac99ac4621" /><Relationship Type="http://schemas.openxmlformats.org/officeDocument/2006/relationships/slide" Target="/ppt/slides/slide13.xml" Id="Rc3e7825f5c7e4cf7" /><Relationship Type="http://schemas.openxmlformats.org/officeDocument/2006/relationships/slide" Target="/ppt/slides/slide14.xml" Id="R397cdd88aa604f31" /><Relationship Type="http://schemas.openxmlformats.org/officeDocument/2006/relationships/slide" Target="/ppt/slides/slide15.xml" Id="R94562af7221d4117" /><Relationship Type="http://schemas.openxmlformats.org/officeDocument/2006/relationships/slide" Target="/ppt/slides/slide16.xml" Id="R6679b91f3db34bad" /><Relationship Type="http://schemas.openxmlformats.org/officeDocument/2006/relationships/slide" Target="/ppt/slides/slide17.xml" Id="R8b0b9b4ad0bd4ca5" /><Relationship Type="http://schemas.openxmlformats.org/officeDocument/2006/relationships/slide" Target="/ppt/slides/slide18.xml" Id="R0e6ffbef14a640b3" /><Relationship Type="http://schemas.openxmlformats.org/officeDocument/2006/relationships/slide" Target="/ppt/slides/slide19.xml" Id="R26203f6596b2437b" /><Relationship Type="http://schemas.openxmlformats.org/officeDocument/2006/relationships/slide" Target="/ppt/slides/slide20.xml" Id="R8b711e692aa74917" /><Relationship Type="http://schemas.openxmlformats.org/officeDocument/2006/relationships/slide" Target="/ppt/slides/slide21.xml" Id="Rda97b64cd01c4bc4" /><Relationship Type="http://schemas.openxmlformats.org/officeDocument/2006/relationships/slide" Target="/ppt/slides/slide22.xml" Id="Rd45ecddb82db4191" /><Relationship Type="http://schemas.openxmlformats.org/officeDocument/2006/relationships/slide" Target="/ppt/slides/slide23.xml" Id="Rd3fdf7ab6ca04322" /><Relationship Type="http://schemas.openxmlformats.org/officeDocument/2006/relationships/slide" Target="/ppt/slides/slide24.xml" Id="R66091a90b330499a" /><Relationship Type="http://schemas.openxmlformats.org/officeDocument/2006/relationships/slide" Target="/ppt/slides/slide25.xml" Id="Rd1fcf8b38e974c26" /><Relationship Type="http://schemas.openxmlformats.org/officeDocument/2006/relationships/slide" Target="/ppt/slides/slide26.xml" Id="R80065ee98b8443db" /><Relationship Type="http://schemas.openxmlformats.org/officeDocument/2006/relationships/slide" Target="/ppt/slides/slide27.xml" Id="Rc87332b1c9fc4c94" /><Relationship Type="http://schemas.openxmlformats.org/officeDocument/2006/relationships/slide" Target="/ppt/slides/slide28.xml" Id="R3e21a9dab82743f5" /><Relationship Type="http://schemas.openxmlformats.org/officeDocument/2006/relationships/slide" Target="/ppt/slides/slide29.xml" Id="R456bc605c91d493c" /><Relationship Type="http://schemas.openxmlformats.org/officeDocument/2006/relationships/slide" Target="/ppt/slides/slide30.xml" Id="R16f0b79dd7544c56" /><Relationship Type="http://schemas.openxmlformats.org/officeDocument/2006/relationships/slide" Target="/ppt/slides/slide31.xml" Id="Ra444c979614b4947" /><Relationship Type="http://schemas.openxmlformats.org/officeDocument/2006/relationships/slide" Target="/ppt/slides/slide32.xml" Id="R02f72a864c9147c8" /><Relationship Type="http://schemas.openxmlformats.org/officeDocument/2006/relationships/slide" Target="/ppt/slides/slide33.xml" Id="R9c790878745f47c7" /><Relationship Type="http://schemas.openxmlformats.org/officeDocument/2006/relationships/slide" Target="/ppt/slides/slide34.xml" Id="R9badaeaf96474e5d" /><Relationship Type="http://schemas.openxmlformats.org/officeDocument/2006/relationships/slide" Target="/ppt/slides/slide35.xml" Id="R8804bf3267f14e15" /><Relationship Type="http://schemas.openxmlformats.org/officeDocument/2006/relationships/slide" Target="/ppt/slides/slide36.xml" Id="R5424b2cd316e4c2e" /><Relationship Type="http://schemas.openxmlformats.org/officeDocument/2006/relationships/slide" Target="/ppt/slides/slide37.xml" Id="Rd59e9853d20a4d41" /><Relationship Type="http://schemas.openxmlformats.org/officeDocument/2006/relationships/slide" Target="/ppt/slides/slide38.xml" Id="R5775a8b22302498a" /><Relationship Type="http://schemas.openxmlformats.org/officeDocument/2006/relationships/slide" Target="/ppt/slides/slide39.xml" Id="R459e8c954b4a4e72" /><Relationship Type="http://schemas.openxmlformats.org/officeDocument/2006/relationships/slide" Target="/ppt/slides/slide40.xml" Id="Re6f2dd21be2b4b0d" /><Relationship Type="http://schemas.openxmlformats.org/officeDocument/2006/relationships/slide" Target="/ppt/slides/slide41.xml" Id="R367a4c05220b4e91" /><Relationship Type="http://schemas.openxmlformats.org/officeDocument/2006/relationships/slide" Target="/ppt/slides/slide42.xml" Id="Ree95360f725a44ef" /><Relationship Type="http://schemas.openxmlformats.org/officeDocument/2006/relationships/slide" Target="/ppt/slides/slide43.xml" Id="Rc98a94c57b024a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d66c0ed9494b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88f48548fd466e" /><Relationship Type="http://schemas.openxmlformats.org/officeDocument/2006/relationships/notesMaster" Target="/ppt/notesMasters/notesMaster1.xml" Id="R0f13cdd80a844c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4b08d25b26480c" /><Relationship Type="http://schemas.openxmlformats.org/officeDocument/2006/relationships/notesMaster" Target="/ppt/notesMasters/notesMaster1.xml" Id="R252ae303270940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897d2edb344133" /><Relationship Type="http://schemas.openxmlformats.org/officeDocument/2006/relationships/notesMaster" Target="/ppt/notesMasters/notesMaster1.xml" Id="Rc96dd7ce49dc43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43ff5667ef4b07" /><Relationship Type="http://schemas.openxmlformats.org/officeDocument/2006/relationships/notesMaster" Target="/ppt/notesMasters/notesMaster1.xml" Id="R320d74ee74784c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fb071563da43b1" /><Relationship Type="http://schemas.openxmlformats.org/officeDocument/2006/relationships/notesMaster" Target="/ppt/notesMasters/notesMaster1.xml" Id="R6697ad80dbf24e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a05969c1ff46a9" /><Relationship Type="http://schemas.openxmlformats.org/officeDocument/2006/relationships/notesMaster" Target="/ppt/notesMasters/notesMaster1.xml" Id="Rd0812fba93d84f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0f8bb1499446f9" /><Relationship Type="http://schemas.openxmlformats.org/officeDocument/2006/relationships/notesMaster" Target="/ppt/notesMasters/notesMaster1.xml" Id="Rf9857f4dd09a45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6d2eefe79f41b7" /><Relationship Type="http://schemas.openxmlformats.org/officeDocument/2006/relationships/notesMaster" Target="/ppt/notesMasters/notesMaster1.xml" Id="R2f03c32f381f4a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2bba60660e4531" /><Relationship Type="http://schemas.openxmlformats.org/officeDocument/2006/relationships/notesMaster" Target="/ppt/notesMasters/notesMaster1.xml" Id="Rba4843a45db842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37b3664ec34427" /><Relationship Type="http://schemas.openxmlformats.org/officeDocument/2006/relationships/notesMaster" Target="/ppt/notesMasters/notesMaster1.xml" Id="R9e76803792dd4d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8dd164e7fb4319" /><Relationship Type="http://schemas.openxmlformats.org/officeDocument/2006/relationships/notesMaster" Target="/ppt/notesMasters/notesMaster1.xml" Id="R0e07966150a941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263836b7954a0c" /><Relationship Type="http://schemas.openxmlformats.org/officeDocument/2006/relationships/notesMaster" Target="/ppt/notesMasters/notesMaster1.xml" Id="Rf0a19adf3f2241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b4284121e4476c" /><Relationship Type="http://schemas.openxmlformats.org/officeDocument/2006/relationships/notesMaster" Target="/ppt/notesMasters/notesMaster1.xml" Id="R6ff9d91e81cd41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f4d02972dd4851" /><Relationship Type="http://schemas.openxmlformats.org/officeDocument/2006/relationships/notesMaster" Target="/ppt/notesMasters/notesMaster1.xml" Id="R252176c27bf640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3e34525156b498c" /><Relationship Type="http://schemas.openxmlformats.org/officeDocument/2006/relationships/notesMaster" Target="/ppt/notesMasters/notesMaster1.xml" Id="R78a1322b0863438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97e5666c7c4ab7" /><Relationship Type="http://schemas.openxmlformats.org/officeDocument/2006/relationships/notesMaster" Target="/ppt/notesMasters/notesMaster1.xml" Id="Rc7982758bf7e40f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3397f0f6ea5406a" /><Relationship Type="http://schemas.openxmlformats.org/officeDocument/2006/relationships/notesMaster" Target="/ppt/notesMasters/notesMaster1.xml" Id="Rf97f3120290b44a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1e5c3366544d9d" /><Relationship Type="http://schemas.openxmlformats.org/officeDocument/2006/relationships/notesMaster" Target="/ppt/notesMasters/notesMaster1.xml" Id="R45aea0a7554746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cdc7c3abe434cde" /><Relationship Type="http://schemas.openxmlformats.org/officeDocument/2006/relationships/notesMaster" Target="/ppt/notesMasters/notesMaster1.xml" Id="Re99067abffbb438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4fb5f64c7be4df0" /><Relationship Type="http://schemas.openxmlformats.org/officeDocument/2006/relationships/notesMaster" Target="/ppt/notesMasters/notesMaster1.xml" Id="R7a79f64619564a7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49f8477006f4a62" /><Relationship Type="http://schemas.openxmlformats.org/officeDocument/2006/relationships/notesMaster" Target="/ppt/notesMasters/notesMaster1.xml" Id="Rd8738915341945a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7e2294e3673477c" /><Relationship Type="http://schemas.openxmlformats.org/officeDocument/2006/relationships/notesMaster" Target="/ppt/notesMasters/notesMaster1.xml" Id="R49f222ecc1274ae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41d2eedf6bd4d13" /><Relationship Type="http://schemas.openxmlformats.org/officeDocument/2006/relationships/notesMaster" Target="/ppt/notesMasters/notesMaster1.xml" Id="R541c9107eb184cb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582586d1c654b60" /><Relationship Type="http://schemas.openxmlformats.org/officeDocument/2006/relationships/notesMaster" Target="/ppt/notesMasters/notesMaster1.xml" Id="R41f40da96f26410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ceacbb4f8414095" /><Relationship Type="http://schemas.openxmlformats.org/officeDocument/2006/relationships/notesMaster" Target="/ppt/notesMasters/notesMaster1.xml" Id="R8accfd10666c4e4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4623539ca804510" /><Relationship Type="http://schemas.openxmlformats.org/officeDocument/2006/relationships/notesMaster" Target="/ppt/notesMasters/notesMaster1.xml" Id="Rbe7d19e6b71d436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4f71451cb9743ed" /><Relationship Type="http://schemas.openxmlformats.org/officeDocument/2006/relationships/notesMaster" Target="/ppt/notesMasters/notesMaster1.xml" Id="Rd7a887c44133496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4d4aebada414cc0" /><Relationship Type="http://schemas.openxmlformats.org/officeDocument/2006/relationships/notesMaster" Target="/ppt/notesMasters/notesMaster1.xml" Id="R08e6b07f976c479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af792c935874b72" /><Relationship Type="http://schemas.openxmlformats.org/officeDocument/2006/relationships/notesMaster" Target="/ppt/notesMasters/notesMaster1.xml" Id="R4e8deef2c5c94c7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3dc41a44cf64394" /><Relationship Type="http://schemas.openxmlformats.org/officeDocument/2006/relationships/notesMaster" Target="/ppt/notesMasters/notesMaster1.xml" Id="R6ed53edd46494bf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8821a96db3148d6" /><Relationship Type="http://schemas.openxmlformats.org/officeDocument/2006/relationships/notesMaster" Target="/ppt/notesMasters/notesMaster1.xml" Id="R911171de513a4ef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607016d0f2045ef" /><Relationship Type="http://schemas.openxmlformats.org/officeDocument/2006/relationships/notesMaster" Target="/ppt/notesMasters/notesMaster1.xml" Id="Receb71135371480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31926cba2774c40" /><Relationship Type="http://schemas.openxmlformats.org/officeDocument/2006/relationships/notesMaster" Target="/ppt/notesMasters/notesMaster1.xml" Id="R25920e1a4c1b4fa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255adaece1b448c" /><Relationship Type="http://schemas.openxmlformats.org/officeDocument/2006/relationships/notesMaster" Target="/ppt/notesMasters/notesMaster1.xml" Id="R274da1acb38a478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f258c22ca534d6b" /><Relationship Type="http://schemas.openxmlformats.org/officeDocument/2006/relationships/notesMaster" Target="/ppt/notesMasters/notesMaster1.xml" Id="R527238d13b7c467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fdf26d6c31d46c1" /><Relationship Type="http://schemas.openxmlformats.org/officeDocument/2006/relationships/notesMaster" Target="/ppt/notesMasters/notesMaster1.xml" Id="R94a01a584dcd4e7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9c72adba02b485e" /><Relationship Type="http://schemas.openxmlformats.org/officeDocument/2006/relationships/notesMaster" Target="/ppt/notesMasters/notesMaster1.xml" Id="Rab771754404f4d6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7d8bb0c55074ac5" /><Relationship Type="http://schemas.openxmlformats.org/officeDocument/2006/relationships/notesMaster" Target="/ppt/notesMasters/notesMaster1.xml" Id="Rd0b28228fee34ac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6644a2902e14585" /><Relationship Type="http://schemas.openxmlformats.org/officeDocument/2006/relationships/notesMaster" Target="/ppt/notesMasters/notesMaster1.xml" Id="R910acd4bda114b6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328bf8b91bf4f2d" /><Relationship Type="http://schemas.openxmlformats.org/officeDocument/2006/relationships/notesMaster" Target="/ppt/notesMasters/notesMaster1.xml" Id="Rf7ef8b98149e4ef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cc0fb5b8093451e" /><Relationship Type="http://schemas.openxmlformats.org/officeDocument/2006/relationships/notesMaster" Target="/ppt/notesMasters/notesMaster1.xml" Id="Rf1233ff4bd0746c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2054117825440bb" /><Relationship Type="http://schemas.openxmlformats.org/officeDocument/2006/relationships/notesMaster" Target="/ppt/notesMasters/notesMaster1.xml" Id="R4ed08702b8f34b1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dd095a329b74e1e" /><Relationship Type="http://schemas.openxmlformats.org/officeDocument/2006/relationships/notesMaster" Target="/ppt/notesMasters/notesMaster1.xml" Id="R7a84d11a498248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발표의 핵심은 단순한 파라미터 조정이 아니라, Yaw 발산의 원인을 코드 구조와 공분산의 연결로 설명하는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화면/프로젝트/EKF기말프로젝트_김민설/tmp/ppt_build/experiment_output/ekf_case_metrics.csv</a:t>
            </a:r>
          </a:p>
          <a:p xmlns:a="http://schemas.openxmlformats.org/drawingml/2006/main">
            <a:r>
              <a:t>- C:/Users/a0104/Downloads/2e070a30-906d-4f77-b437-ac6aebbab56e_Strapdown_Inertial_Technology.pdf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스터디의 학습 순서를 먼저 보여주는 장입니다. 각 단계가 독립 주제가 아니라 실제 P/Q/R 분석으로 이어졌다는 흐름을 강조합니다. 이미지 대체 후보: 왼쪽에서 오른쪽으로 진행되는 도로형 로드맵 또는 6단계 학습 타임라인. 현재 도형 버전이 발표 화면에서는 가장 선명합니다.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화면/프로젝트/발표/260824_스터디 정리 세미나_지준원.pdf (pp.2-5)</a:t>
            </a:r>
          </a:p>
          <a:p xmlns:a="http://schemas.openxmlformats.org/drawingml/2006/main">
            <a:r>
              <a:t>- C:/Users/a0104/OneDrive/바탕 화면/프로젝트/발표/260824_스터디 정리 세미나_박주하.pdf (pp.3-13)</a:t>
            </a:r>
          </a:p>
          <a:p xmlns:a="http://schemas.openxmlformats.org/drawingml/2006/main">
            <a:r>
              <a:t>- C:/Users/a0104/OneDrive/바탕 화면/프로젝트/발표/260824_스터디 정리 세미나_김경주.pdf (pp.3-7)</a:t>
            </a:r>
          </a:p>
          <a:p xmlns:a="http://schemas.openxmlformats.org/drawingml/2006/main">
            <a:r>
              <a:t>- C:/Users/a0104/OneDrive/바탕 화면/프로젝트/발표/260824_스터디 정리 세미나_어수진.pdf (pp.4-8)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가속도계는 specific force, 자이로는 angular rate를 제공합니다. 자이로로 자세를 갱신하고 가속도를 NED로 변환한 뒤 속도와 위치를 적분합니다. 이미지 대체 후보: 차량에 장착된 IMU 사진과 body/NED 좌표축 그림. 다만 처리 순서를 설명할 때는 현재 블록도가 더 직접적입니다.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화면/프로젝트/발표/260824_스터디 정리 세미나_지준원.pdf (pp.2-4)</a:t>
            </a:r>
          </a:p>
          <a:p xmlns:a="http://schemas.openxmlformats.org/drawingml/2006/main">
            <a:r>
              <a:t>- C:/Users/a0104/OneDrive/바탕 화면/프로젝트/발표/260824_스터디 정리 세미나_박주하.pdf (pp.3-9)</a:t>
            </a:r>
          </a:p>
          <a:p xmlns:a="http://schemas.openxmlformats.org/drawingml/2006/main">
            <a:r>
              <a:t>- C:/Users/a0104/OneDrive/바탕 화면/프로젝트/발표/260824_스터디 정리 세미나_김경주.pdf (pp.3-4)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INS는 연속적이고 단기 정확도가 좋지만 drift가 누적됩니다. GNSS는 장기 기준을 주지만 순간 품질이 나빠질 수 있습니다. Kalman Filter는 두 정보의 신뢰도를 P/Q/R로 조절합니다. 이미지 대체 후보: 같은 궤적 위에 INS drift와 GNSS 점 측정을 겹친 비교 그림. 현재 비교·융합 도식은 본 실험의 P/Q/R로 자연스럽게 연결됩니다.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화면/프로젝트/발표/260824_스터디 정리 세미나_지준원.pdf (pp.2-4)</a:t>
            </a:r>
          </a:p>
          <a:p xmlns:a="http://schemas.openxmlformats.org/drawingml/2006/main">
            <a:r>
              <a:t>- C:/Users/a0104/OneDrive/바탕 화면/프로젝트/발표/260824_스터디 정리 세미나_김경주.pdf (p.3)</a:t>
            </a:r>
          </a:p>
          <a:p xmlns:a="http://schemas.openxmlformats.org/drawingml/2006/main">
            <a:r>
              <a:t>- C:/Users/a0104/OneDrive/바탕 화면/프로젝트/발표/260824_스터디 정리 세미나_어수진.pdf (pp.4-8)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장에서 세 숫자를 먼저 제시합니다. P에서는 Z축 바이어스 초기 불확실성, Q에서는 자이로 과정잡음, 마지막으로 R과 K 제한의 조합이 핵심이었습니다.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화면/프로젝트/EKF기말프로젝트_김민설/tmp/ppt_build/experiment_output/ekf_case_metrics.csv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관심사는 RMSE를 무조건 최소화하는 것이 아니라, 왜 특정 제약을 풀었을 때 Yaw가 망가지는지 설명하는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화면/프로젝트/발표/260824_스터디 정리 세미나_김경주.pdf (pp.3-8)</a:t>
            </a:r>
          </a:p>
          <a:p xmlns:a="http://schemas.openxmlformats.org/drawingml/2006/main">
            <a:r>
              <a:t>- C:/Users/a0104/OneDrive/바탕 화면/프로젝트/발표/260824_스터디 정리 세미나_어수진.pdf (pp.4-8)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동일 데이터와 동일 정렬 조건에서 P/Q/R만 바꿔 비교했습니다. GNSS 로그에는 같은 시각의 중복 행이 있어 시간 게이트를 유지했습니다.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화면/프로젝트/EKF기말프로젝트_김민설/EKF기말프로젝트_학생배포용_최종/Main.m (lines 19-135)</a:t>
            </a:r>
          </a:p>
          <a:p xmlns:a="http://schemas.openxmlformats.org/drawingml/2006/main">
            <a:r>
              <a:t>- C:/Users/a0104/OneDrive/바탕 화면/프로젝트/발표/260824_스터디 정리 세미나_지준원.pdf (pp.3-6)</a:t>
            </a:r>
          </a:p>
          <a:p xmlns:a="http://schemas.openxmlformats.org/drawingml/2006/main">
            <a:r>
              <a:t>- C:/Users/a0104/OneDrive/바탕 화면/프로젝트/발표/260824_스터디 정리 세미나_박주하.pdf (p.2)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모든 그래프의 x축은 정렬 이후 시간입니다. 따라서 정렬 후 183초는 절대 실험시각 약 483초에 해당합니다.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화면/프로젝트/EKF기말프로젝트_김민설/EKF기말프로젝트_학생배포용_최종/Main.m (lines 32-58, 151-183)</a:t>
            </a:r>
          </a:p>
          <a:p xmlns:a="http://schemas.openxmlformats.org/drawingml/2006/main">
            <a:r>
              <a:t>- C:/Users/a0104/OneDrive/바탕 화면/프로젝트/발표/260824_스터디 정리 세미나_김경주.pdf (p.15)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 EKF는 오차 상태가 아니라 위치·속도·자세 그 자체를 상태로 둡니다. 약결합이므로 GNSS 원시 측정이 아니라 GNSS가 산출한 위치·속도를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화면/프로젝트/발표/260824_스터디 정리 세미나_김경주.pdf (p.3)</a:t>
            </a:r>
          </a:p>
          <a:p xmlns:a="http://schemas.openxmlformats.org/drawingml/2006/main">
            <a:r>
              <a:t>- C:/Users/a0104/OneDrive/바탕 화면/프로젝트/발표/260824_스터디 정리 세미나_지준원.pdf (pp.2-4)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중 코드를 설명할 때 파일명을 먼저 보여주고, 각 파일의 역할을 한 문장으로 제한합니다.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화면/프로젝트/EKF기말프로젝트_김민설/EKF기말프로젝트_학생배포용_최종/Main.m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화면/프로젝트/EKF기말프로젝트_김민설/EKF기말프로젝트_학생배포용_최종/navigation/ini_Navigation.m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화면/프로젝트/EKF기말프로젝트_김민설/EKF기말프로젝트_학생배포용_최종/navigation/navi_INS_alignment.m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화면/프로젝트/EKF기말프로젝트_김민설/EKF기말프로젝트_학생배포용_최종/navigation/navi_LC_Integ_propa_direct.m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화면/프로젝트/EKF기말프로젝트_김민설/EKF기말프로젝트_학생배포용_최종/navigation/navi_LC_Integ_GPS_correct_direct.m</a:t>
            </a:r>
          </a:p>
          <a:p xmlns:a="http://schemas.openxmlformats.org/drawingml/2006/main">
            <a:r>
              <a:t>- C:/Users/a0104/OneDrive/바탕 화면/프로젝트/발표/260824_스터디 정리 세미나_지준원.pdf (p.4)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P의 15개 대각 성분 순서와 Q의 6개 성분 순서를 혼동하지 않는 것이 튜닝의 출발점입니다.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화면/프로젝트/EKF기말프로젝트_김민설/EKF기말프로젝트_학생배포용_최종/navigation/ini_Navigation.m (lines 18-31)</a:t>
            </a:r>
          </a:p>
          <a:p xmlns:a="http://schemas.openxmlformats.org/drawingml/2006/main">
            <a:r>
              <a:t>- C:/Users/a0104/OneDrive/바탕 화면/프로젝트/발표/260824_스터디 정리 세미나_김경주.pdf (p.4)</a:t>
            </a:r>
          </a:p>
          <a:p xmlns:a="http://schemas.openxmlformats.org/drawingml/2006/main">
            <a:r>
              <a:t>- C:/Users/a0104/OneDrive/바탕 화면/프로젝트/발표/260824_스터디 정리 세미나_지준원.pdf (p.5)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초기 Yaw는 GNSS 속도가 0.5 m/s 이상인 초기 20개 샘플의 COG로 정했습니다. 정지 상태의 가속도·자이로만으로는 절대 Yaw를 알 수 없습니다.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화면/프로젝트/EKF기말프로젝트_김민설/EKF기말프로젝트_학생배포용_최종/Main.m (lines 25-58)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화면/프로젝트/EKF기말프로젝트_김민설/EKF기말프로젝트_학생배포용_최종/navigation/navi_INS_alignment.m (lines 40-88)</a:t>
            </a:r>
          </a:p>
          <a:p xmlns:a="http://schemas.openxmlformats.org/drawingml/2006/main">
            <a:r>
              <a:t>- C:/Users/a0104/OneDrive/바탕 화면/프로젝트/발표/260824_스터디 정리 세미나_김경주.pdf (p.4)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프로세스 노이즈 Q는 가속도와 각속도 측정이 이 네 전파식에 들어갈 때 P를 얼마나 빠르게 키울지를 결정합니다.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화면/프로젝트/EKF기말프로젝트_김민설/EKF기말프로젝트_학생배포용_최종/navigation/navi_LC_Integ_propa_direct.m (lines 25-101)</a:t>
            </a:r>
          </a:p>
          <a:p xmlns:a="http://schemas.openxmlformats.org/drawingml/2006/main">
            <a:r>
              <a:t>- C:/Users/a0104/OneDrive/바탕 화면/프로젝트/발표/260824_스터디 정리 세미나_어수진.pdf (pp.6-7)</a:t>
            </a:r>
          </a:p>
          <a:p xmlns:a="http://schemas.openxmlformats.org/drawingml/2006/main">
            <a:r>
              <a:t>- C:/Users/a0104/OneDrive/바탕 화면/프로젝트/발표/260824_스터디 정리 세미나_박주하.pdf (pp.10-13)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공분산 대칭화는 상태를 제한하지 않고, 이론적으로 대칭이어야 하는 P의 수치적 비대칭만 제거합니다. 그래서 유지했습니다.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화면/프로젝트/EKF기말프로젝트_김민설/EKF기말프로젝트_학생배포용_최종/navigation/navi_LC_Integ_propa_direct.m (lines 103-215)</a:t>
            </a:r>
          </a:p>
          <a:p xmlns:a="http://schemas.openxmlformats.org/drawingml/2006/main">
            <a:r>
              <a:t>- C:/Users/a0104/OneDrive/바탕 화면/프로젝트/발표/260824_스터디 정리 세미나_김경주.pdf (pp.5-7)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Yaw 발산 문제를 이해하려면 H가 아니라 P의 교차항을 봐야 합니다. GNSS가 위치·속도만 측정해도 자세와 bias가 간접 보정될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화면/프로젝트/EKF기말프로젝트_김민설/EKF기말프로젝트_학생배포용_최종/navigation/navi_LC_Integ_GPS_correct_direct.m (lines 31-77)</a:t>
            </a:r>
          </a:p>
          <a:p xmlns:a="http://schemas.openxmlformats.org/drawingml/2006/main">
            <a:r>
              <a:t>- C:/Users/a0104/OneDrive/바탕 화면/프로젝트/발표/260824_스터디 정리 세미나_어수진.pdf (p.8)</a:t>
            </a:r>
          </a:p>
          <a:p xmlns:a="http://schemas.openxmlformats.org/drawingml/2006/main">
            <a:r>
              <a:t>- C:/Users/a0104/OneDrive/바탕 화면/프로젝트/발표/260824_스터디 정리 세미나_김경주.pdf (p.7)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다음부터는 P와 Q의 8단계 실험을 같은 기준에서 비교합니다.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화면/프로젝트/EKF기말프로젝트_김민설/EKF기말프로젝트_학생배포용_최종/navigation/ini_Navigation.m</a:t>
            </a:r>
          </a:p>
          <a:p xmlns:a="http://schemas.openxmlformats.org/drawingml/2006/main">
            <a:r>
              <a:t>- C:/Users/a0104/OneDrive/바탕 화면/프로젝트/발표/260824_스터디 정리 세미나_김경주.pdf (p.8)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코드의 diag 숫자는 공분산이므로 표준편차를 넣고 싶다면 제곱해야 합니다. Q의 3번째는 Z 가속도, 6번째는 Z 자이로입니다.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화면/프로젝트/EKF기말프로젝트_김민설/EKF기말프로젝트_학생배포용_최종/navigation/ini_Navigation.m (lines 72-119)</a:t>
            </a:r>
          </a:p>
          <a:p xmlns:a="http://schemas.openxmlformats.org/drawingml/2006/main">
            <a:r>
              <a:t>- C:/Users/a0104/Downloads/2e070a30-906d-4f77-b437-ac6aebbab56e_Strapdown_Inertial_Technology.pdf (pp.1,19)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클램핑처럼 보이는 코드라도 역할이 다릅니다. 정의역 보호와 각도 wrapping은 유지했고, 중복 대입과 실제로 발동하지 않는 pitch clamp는 제거했습니다.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화면/프로젝트/EKF기말프로젝트_김민설/EKF기말프로젝트_학생배포용_최종/Main.m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화면/프로젝트/EKF기말프로젝트_김민설/EKF기말프로젝트_학생배포용_최종/navigation/navi_INS_alignment.m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화면/프로젝트/EKF기말프로젝트_김민설/EKF기말프로젝트_학생배포용_최종/navigation/navi_LC_Integ_propa_direct.m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화면/프로젝트/EKF기말프로젝트_김민설/EKF기말프로젝트_학생배포용_최종/navigation/navi_LC_Integ_GPS_correct_direct.m</a:t>
            </a:r>
          </a:p>
          <a:p xmlns:a="http://schemas.openxmlformats.org/drawingml/2006/main">
            <a:r>
              <a:t>- C:/Users/a0104/Downloads/2e070a30-906d-4f77-b437-ac6aebbab56e_Strapdown_Inertial_Technology.pdf (pp.39-42)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처음에는 원래의 K 13~15행 차단을 제거했습니다. 결과가 악화된 뒤 전체를 복원하지 않고 Z축만 선택적으로 막는 절충안을 시험했습니다.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화면/프로젝트/EKF기말프로젝트_김민설/EKF기말프로젝트_학생배포용_최종/navigation/navi_INS_alignment.m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화면/프로젝트/EKF기말프로젝트_김민설/EKF기말프로젝트_학생배포용_최종/navigation/navi_LC_Integ_propa_direct.m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화면/프로젝트/EKF기말프로젝트_김민설/EKF기말프로젝트_학생배포용_최종/navigation/navi_LC_Integ_GPS_correct_direct.m</a:t>
            </a:r>
          </a:p>
          <a:p xmlns:a="http://schemas.openxmlformats.org/drawingml/2006/main">
            <a:r>
              <a:t>- C:/Users/a0104/Downloads/2e070a30-906d-4f77-b437-ac6aebbab56e_Strapdown_Inertial_Technology.pdf (pp.39-42)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왜 복원을 권장했는지에 대한 답입니다. GNSS 위치·속도만으로 Z축 자이로 bias를 업데이트했더니 부호가 바뀌고 Yaw가 누적 발산했습니다. 다만 전체 K 차단은 모델 문제를 가릴 수 있어 절충안을 찾았습니다.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화면/프로젝트/EKF기말프로젝트_김민설/tmp/ppt_build/experiment_output/ekf_case_metrics.csv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화면/프로젝트/EKF기말프로젝트_김민설/EKF기말프로젝트_학생배포용_최종/navigation/navi_LC_Integ_GPS_correct_direct.m</a:t>
            </a:r>
          </a:p>
          <a:p xmlns:a="http://schemas.openxmlformats.org/drawingml/2006/main">
            <a:r>
              <a:t>- C:/Users/a0104/Downloads/2e070a30-906d-4f77-b437-ac6aebbab56e_Strapdown_Inertial_Technology.pdf (p.37)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P와 Q 실험은 이 연결고리의 어느 부분을 약하게 또는 강하게 만들지 확인하는 민감도 실험입니다.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화면/프로젝트/EKF기말프로젝트_김민설/EKF기말프로젝트_학생배포용_최종/navigation/navi_LC_Integ_propa_direct.m (lines 181-210)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화면/프로젝트/EKF기말프로젝트_김민설/EKF기말프로젝트_학생배포용_최종/navigation/navi_LC_Integ_GPS_correct_direct.m (lines 31-77)</a:t>
            </a:r>
          </a:p>
          <a:p xmlns:a="http://schemas.openxmlformats.org/drawingml/2006/main">
            <a:r>
              <a:t>- C:/Users/a0104/OneDrive/바탕 화면/프로젝트/발표/260824_스터디 정리 세미나_박주하.pdf (pp.10-13)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P는 초기 한 번만 설정되므로, 주행 전체에서 지속적으로 들어가는 Q와 달리 초기 교차공분산 형성에 주로 영향을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화면/프로젝트/EKF기말프로젝트_김민설/EKF기말프로젝트_학생배포용_최종/navigation/ini_Navigation.m (lines 72-92)</a:t>
            </a:r>
          </a:p>
          <a:p xmlns:a="http://schemas.openxmlformats.org/drawingml/2006/main">
            <a:r>
              <a:t>- C:/Users/a0104/Downloads/2e070a30-906d-4f77-b437-ac6aebbab56e_Strapdown_Inertial_Technology.pdf (pp.1-18)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 전체를 키우면 모든 상태가 더 잘 보정될 것이라고 기대했지만 Yaw는 오히려 악화됐습니다. 전체를 줄인 경우 Yaw는 줄었지만 문제 축을 분리하지 못합니다.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화면/프로젝트/EKF기말프로젝트_김민설/tmp/ppt_build/experiment_output/ekf_case_metrics.csv</a:t>
            </a:r>
          </a:p>
          <a:p xmlns:a="http://schemas.openxmlformats.org/drawingml/2006/main">
            <a:r>
              <a:t>- C:/Users/a0104/OneDrive/바탕 화면/프로젝트/EKF기말프로젝트_김민설/tmp/ppt_build/experiment_output/plots/p_all_case_summary.png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그래프 왼쪽의 RMSE와 오른쪽 시계열을 함께 봅니다. Z축 bias만 ×0.01로 낮춘 P6이 가장 낮은 13.38도를 기록했습니다.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화면/프로젝트/EKF기말프로젝트_김민설/tmp/ppt_build/experiment_output/ekf_case_metrics.csv</a:t>
            </a:r>
          </a:p>
          <a:p xmlns:a="http://schemas.openxmlformats.org/drawingml/2006/main">
            <a:r>
              <a:t>- C:/Users/a0104/OneDrive/바탕 화면/프로젝트/EKF기말프로젝트_김민설/tmp/ppt_build/experiment_output/plots/p_cases_3_to_6_yaw.png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P6을 최적값으로 단정하지 않습니다. Yaw는 가장 좋아졌지만 North 위치가 악화되는 trade-off가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화면/프로젝트/EKF기말프로젝트_김민설/tmp/ppt_build/experiment_output/ekf_case_metrics.csv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Yaw 상태의 초기 분산만 바꿔서는 누적되는 Z축 gyro bias 문제를 해결하지 못했습니다. 결과 차이는 1~2도 수준입니다.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화면/프로젝트/EKF기말프로젝트_김민설/tmp/ppt_build/experiment_output/ekf_case_metrics.csv</a:t>
            </a:r>
          </a:p>
          <a:p xmlns:a="http://schemas.openxmlformats.org/drawingml/2006/main">
            <a:r>
              <a:t>- C:/Users/a0104/OneDrive/바탕 화면/프로젝트/EKF기말프로젝트_김민설/tmp/ppt_build/experiment_output/plots/p_cases_7_to_8_yaw.png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Q 실험에서 자이로 과정잡음을 키운 Case 5가 P6보다 더 낮은 Yaw와 더 좋은 위치 성능을 동시에 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화면/프로젝트/EKF기말프로젝트_김민설/tmp/ppt_build/experiment_output/ekf_case_metrics.csv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다른 발표의 [1,1,3,1,1,3] 방식도 diag로 만들면 같은 행렬입니다. 다만 3과 6은 각각 Z 가속도와 Z 자이로라는 뜻입니다.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화면/프로젝트/EKF기말프로젝트_김민설/EKF기말프로젝트_학생배포용_최종/navigation/ini_Navigation.m (lines 94-102)</a:t>
            </a:r>
          </a:p>
          <a:p xmlns:a="http://schemas.openxmlformats.org/drawingml/2006/main">
            <a:r>
              <a:t>- C:/Users/a0104/Downloads/2e070a30-906d-4f77-b437-ac6aebbab56e_Strapdown_Inertial_Technology.pdf (pp.19-36)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Q는 매 전파마다 GQG'로 P에 더해지므로, P보다 영향이 지속적입니다.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화면/프로젝트/EKF기말프로젝트_김민설/EKF기말프로젝트_학생배포용_최종/navigation/ini_Navigation.m (lines 94-102)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화면/프로젝트/EKF기말프로젝트_김민설/EKF기말프로젝트_학생배포용_최종/navigation/navi_LC_Integ_propa_direct.m (lines 195-215)</a:t>
            </a:r>
          </a:p>
          <a:p xmlns:a="http://schemas.openxmlformats.org/drawingml/2006/main">
            <a:r>
              <a:t>- C:/Users/a0104/Downloads/2e070a30-906d-4f77-b437-ac6aebbab56e_Strapdown_Inertial_Technology.pdf (pp.19-36)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Q를 낮추면 IMU 전파를 더 믿게 되어 보정 반응이 둔해지고 오차가 누적됐습니다. 반대로 Q를 키우면 GNSS 보정을 더 받아들이게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화면/프로젝트/EKF기말프로젝트_김민설/tmp/ppt_build/experiment_output/ekf_case_metrics.csv</a:t>
            </a:r>
          </a:p>
          <a:p xmlns:a="http://schemas.openxmlformats.org/drawingml/2006/main">
            <a:r>
              <a:t>- C:/Users/a0104/OneDrive/바탕 화면/프로젝트/EKF기말프로젝트_김민설/tmp/ppt_build/experiment_output/plots/q_all_case_summary.png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Q3는 위치와 속도를 실제로 크게 바꿨습니다. 특히 N/E 위치가 절반 이하로 줄었지만, 자세 Yaw는 오히려 69.97도로 악화돼 단일 목적 최적화의 위험을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화면/프로젝트/EKF기말프로젝트_김민설/tmp/ppt_build/experiment_output/ekf_case_metrics.csv</a:t>
            </a:r>
          </a:p>
          <a:p xmlns:a="http://schemas.openxmlformats.org/drawingml/2006/main">
            <a:r>
              <a:t>- C:/Users/a0104/OneDrive/바탕 화면/프로젝트/EKF기말프로젝트_김민설/tmp/ppt_build/experiment_output/plots/q_cases_3_to_4_pos_vel.png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Q5가 P6보다 더 좋은 결과를 보였습니다. 자이로 모델을 덜 믿게 만들어 GNSS 기반 간접 보정을 더 빠르게 반영한 결과로 해석합니다. 다만 절대 heading 관측이 생긴 것은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화면/프로젝트/EKF기말프로젝트_김민설/tmp/ppt_build/experiment_output/ekf_case_metrics.csv</a:t>
            </a:r>
          </a:p>
          <a:p xmlns:a="http://schemas.openxmlformats.org/drawingml/2006/main">
            <a:r>
              <a:t>- C:/Users/a0104/OneDrive/바탕 화면/프로젝트/EKF기말프로젝트_김민설/tmp/ppt_build/experiment_output/plots/q_cases_5_to_6_attitude.png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축 하나만 키운다고 해당 축 RMSE가 자동으로 줄지 않습니다. Down 오차는 GNSS 고도, 중력, 가속도 bias, 레버암이 함께 영향을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화면/프로젝트/EKF기말프로젝트_김민설/tmp/ppt_build/experiment_output/ekf_case_metrics.csv</a:t>
            </a:r>
          </a:p>
          <a:p xmlns:a="http://schemas.openxmlformats.org/drawingml/2006/main">
            <a:r>
              <a:t>- C:/Users/a0104/OneDrive/바탕 화면/프로젝트/EKF기말프로젝트_김민설/tmp/ppt_build/experiment_output/plots/q_case_7_down.png</a:t>
            </a:r>
          </a:p>
          <a:p xmlns:a="http://schemas.openxmlformats.org/drawingml/2006/main">
            <a:r>
              <a:t>- C:/Users/a0104/OneDrive/바탕 화면/프로젝트/발표/260824_스터디 정리 세미나_지준원.pdf (p.12)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그래프가 똑같다고 느낀 것이 맞습니다. Q8은 수치상 0.09도 차이뿐이며 시계열도 거의 겹칩니다. Z축만 10배로는 부족했습니다.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화면/프로젝트/EKF기말프로젝트_김민설/tmp/ppt_build/experiment_output/ekf_case_metrics.csv</a:t>
            </a:r>
          </a:p>
          <a:p xmlns:a="http://schemas.openxmlformats.org/drawingml/2006/main">
            <a:r>
              <a:t>- C:/Users/a0104/OneDrive/바탕 화면/프로젝트/EKF기말프로젝트_김민설/tmp/ppt_build/experiment_output/plots/q_case_8_yaw.png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Q5는 단일 실험 중 가장 좋은 균형을 보였지만 현재 코드의 Adaptive R/K15 조합과 동시에 적용한 결과는 아직 없습니다. 후속 실험으로 분리합니다.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화면/프로젝트/EKF기말프로젝트_김민설/tmp/ppt_build/experiment_output/ekf_case_metrics.csv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궤적의 직각 모양은 EKF 선을 매끄럽게 그리는 문제보다 GNSS 입력 자체의 순간 이탈입니다. 따라서 단순 smoothing보다 측정 신뢰도 R을 시각별로 키우는 방식이 맞습니다.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화면/프로젝트/EKF기말프로젝트_김민설/tmp/ppt_build/experiment_output/gnss_anomaly_metrics.csv</a:t>
            </a:r>
          </a:p>
          <a:p xmlns:a="http://schemas.openxmlformats.org/drawingml/2006/main">
            <a:r>
              <a:t>- C:/Users/a0104/OneDrive/바탕 화면/프로젝트/EKF기말프로젝트_김민설/tmp/ppt_build/experiment_output/plots/gnss_quality_anomaly.png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Adaptive R은 감으로 숫자를 키운 것이 아니라 gpsPosU의 제곱을 사용했습니다. 단, 수신기 자체 불확실성도 multipath를 완전히 반영하지 못할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화면/프로젝트/EKF기말프로젝트_김민설/EKF기말프로젝트_학생배포용_최종/navigation/navi_LC_Integ_GPS_correct_direct.m (lines 42-54)</a:t>
            </a:r>
          </a:p>
          <a:p xmlns:a="http://schemas.openxmlformats.org/drawingml/2006/main">
            <a:r>
              <a:t>- C:/Users/a0104/OneDrive/바탕 화면/프로젝트/발표/260824_스터디 정리 세미나_어수진.pdf (pp.17-22)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Adaptive R은 위치 Down과 궤적의 순간 이탈을 완화했지만, Z축 gyro bias 관측성 문제는 별개라서 Yaw는 그대로입니다.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화면/프로젝트/EKF기말프로젝트_김민설/tmp/ppt_build/experiment_output/ekf_case_metrics.csv</a:t>
            </a:r>
          </a:p>
          <a:p xmlns:a="http://schemas.openxmlformats.org/drawingml/2006/main">
            <a:r>
              <a:t>- C:/Users/a0104/OneDrive/바탕 화면/프로젝트/EKF기말프로젝트_김민설/tmp/ppt_build/experiment_output/plots/mitigation_trajectories.png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K15만 0으로 두면 X/Y gyro bias는 계속 추정하고 Z축만 정렬값에 고정합니다. 수치적으로 완벽하지 않지만 전체 차단보다 설계 의도가 명확합니다.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화면/프로젝트/EKF기말프로젝트_김민설/tmp/ppt_build/experiment_output/ekf_case_metrics.csv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화면/프로젝트/EKF기말프로젝트_김민설/EKF기말프로젝트_학생배포용_최종/navigation/navi_LC_Integ_GPS_correct_direct.m (lines 57-61)</a:t>
            </a:r>
          </a:p>
          <a:p xmlns:a="http://schemas.openxmlformats.org/drawingml/2006/main">
            <a:r>
              <a:t>- C:/Users/a0104/OneDrive/바탕 화면/프로젝트/EKF기말프로젝트_김민설/tmp/ppt_build/experiment_output/plots/mitigation_rmse_comparison.png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소스에는 Adaptive R과 K15 제한이 들어가 있습니다. Q는 기본값으로 복원되어 있으며, 다음 실험에서 Q5를 조합해야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화면/프로젝트/EKF기말프로젝트_김민설/EKF기말프로젝트_학생배포용_최종/navigation/navi_LC_Integ_GPS_correct_direct.m (lines 42-77)</a:t>
            </a:r>
          </a:p>
          <a:p xmlns:a="http://schemas.openxmlformats.org/drawingml/2006/main">
            <a:r>
              <a:t>- C:/Users/a0104/OneDrive/바탕 화면/프로젝트/EKF기말프로젝트_김민설/EKF기말프로젝트_학생배포용_최종/navigation/ini_Navigation.m (lines 94-119)</a:t>
            </a:r>
          </a:p>
          <a:p xmlns:a="http://schemas.openxmlformats.org/drawingml/2006/main">
            <a:r>
              <a:t>- C:/Users/a0104/OneDrive/바탕 화면/프로젝트/EKF기말프로젝트_김민설/tmp/ppt_build/experiment_output/ekf_case_metrics.csv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마지막에는 이번 실험에서 확인한 사실과 아직 검증하지 않은 다음 실험을 구분해 말합니다. 특히 Q5와 현재 R/K 조합은 아직 동시에 실행하지 않았습니다.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화면/프로젝트/EKF기말프로젝트_김민설/tmp/ppt_build/experiment_output/ekf_case_metrics.csv</a:t>
            </a:r>
          </a:p>
          <a:p xmlns:a="http://schemas.openxmlformats.org/drawingml/2006/main">
            <a:r>
              <a:t>- C:/Users/a0104/OneDrive/바탕 화면/프로젝트/발표/260824_스터디 정리 세미나_지준원.pdf (p.12)</a:t>
            </a:r>
          </a:p>
          <a:p xmlns:a="http://schemas.openxmlformats.org/drawingml/2006/main">
            <a:r>
              <a:t>- C:/Users/a0104/OneDrive/바탕 화면/프로젝트/발표/260824_스터디 정리 세미나_어수진.pdf (p.22)</a:t>
            </a:r>
          </a:p>
          <a:p xmlns:a="http://schemas.openxmlformats.org/drawingml/2006/main">
            <a:r>
              <a:t>- C:/Users/a0104/OneDrive/바탕 화면/프로젝트/발표/260824_스터디 정리 세미나_김경주.pdf (pp.44-45)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질문이 나오면 P 전체 수치를 이 표에서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화면/프로젝트/EKF기말프로젝트_김민설/tmp/ppt_build/experiment_output/ekf_case_metrics.csv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부록의 전체 수치는 재실행 CSV와 일치합니다. 최저 수치만 보고 모델적으로 정당하다고 단정하지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C:/Users/a0104/OneDrive/바탕 화면/프로젝트/EKF기말프로젝트_김민설/tmp/ppt_build/experiment_output/ekf_case_metrics.csv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86535df4b4f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0ca4f8a28f4305" /><Relationship Type="http://schemas.openxmlformats.org/officeDocument/2006/relationships/slideLayout" Target="/ppt/slideLayouts/slideLayout1.xml" Id="R9e1711fe30a644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1711fe30a644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34c56a9fc4be6" /><Relationship Type="http://schemas.openxmlformats.org/officeDocument/2006/relationships/image" Target="/ppt/media/image.png" Id="Rcd0cd105f3664317" /><Relationship Type="http://schemas.openxmlformats.org/officeDocument/2006/relationships/notesSlide" Target="/ppt/notesSlides/notesSlide1.xml" Id="R0209f2c4e50842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c0b072d974543" /><Relationship Type="http://schemas.openxmlformats.org/officeDocument/2006/relationships/notesSlide" Target="/ppt/notesSlides/notesSlide2.xml" Id="Rb133c28b8f554d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1bc345428450d" /><Relationship Type="http://schemas.openxmlformats.org/officeDocument/2006/relationships/notesSlide" Target="/ppt/notesSlides/notesSlide3.xml" Id="R31f1af7943a644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74da8447c4b3a" /><Relationship Type="http://schemas.openxmlformats.org/officeDocument/2006/relationships/notesSlide" Target="/ppt/notesSlides/notesSlide4.xml" Id="R594f3852730c4e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ad59000a0430a" /><Relationship Type="http://schemas.openxmlformats.org/officeDocument/2006/relationships/notesSlide" Target="/ppt/notesSlides/notesSlide5.xml" Id="R3912cbf9ce3948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0ded498634299" /><Relationship Type="http://schemas.openxmlformats.org/officeDocument/2006/relationships/notesSlide" Target="/ppt/notesSlides/notesSlide6.xml" Id="R22512a3cbc5c47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66126c6a04e14" /><Relationship Type="http://schemas.openxmlformats.org/officeDocument/2006/relationships/notesSlide" Target="/ppt/notesSlides/notesSlide7.xml" Id="Rae9015bc64c345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9a2cfaf6f4e4a" /><Relationship Type="http://schemas.openxmlformats.org/officeDocument/2006/relationships/notesSlide" Target="/ppt/notesSlides/notesSlide8.xml" Id="R7808c2b2a2bb47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bd2a0670f4b70" /><Relationship Type="http://schemas.openxmlformats.org/officeDocument/2006/relationships/notesSlide" Target="/ppt/notesSlides/notesSlide9.xml" Id="R2dccf6f80a844f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e653e5b524301" /><Relationship Type="http://schemas.openxmlformats.org/officeDocument/2006/relationships/notesSlide" Target="/ppt/notesSlides/notesSlide10.xml" Id="R06f097d80f4443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dd888102742a2" /><Relationship Type="http://schemas.openxmlformats.org/officeDocument/2006/relationships/notesSlide" Target="/ppt/notesSlides/notesSlide11.xml" Id="Rf98dc847ea1c4f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ebe81ce8a4026" /><Relationship Type="http://schemas.openxmlformats.org/officeDocument/2006/relationships/notesSlide" Target="/ppt/notesSlides/notesSlide12.xml" Id="R2456de3380604d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3e36dcf6a4df6" /><Relationship Type="http://schemas.openxmlformats.org/officeDocument/2006/relationships/notesSlide" Target="/ppt/notesSlides/notesSlide13.xml" Id="Ra51f4a24224440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89519e41d4e98" /><Relationship Type="http://schemas.openxmlformats.org/officeDocument/2006/relationships/notesSlide" Target="/ppt/notesSlides/notesSlide14.xml" Id="Rfa3212e5a5bf45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50bb126d24b92" /><Relationship Type="http://schemas.openxmlformats.org/officeDocument/2006/relationships/notesSlide" Target="/ppt/notesSlides/notesSlide15.xml" Id="R8cce5819a6a04b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7c729b36745aa" /><Relationship Type="http://schemas.openxmlformats.org/officeDocument/2006/relationships/notesSlide" Target="/ppt/notesSlides/notesSlide16.xml" Id="R89a7babebc014d6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d8eea1ef64087" /><Relationship Type="http://schemas.openxmlformats.org/officeDocument/2006/relationships/notesSlide" Target="/ppt/notesSlides/notesSlide17.xml" Id="R5c19afad61aa4bb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bec7f53814955" /><Relationship Type="http://schemas.openxmlformats.org/officeDocument/2006/relationships/notesSlide" Target="/ppt/notesSlides/notesSlide18.xml" Id="Rd02c9c67716f40b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c17e17a8243ef" /><Relationship Type="http://schemas.openxmlformats.org/officeDocument/2006/relationships/notesSlide" Target="/ppt/notesSlides/notesSlide19.xml" Id="R763b5a480e14460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ae5810fcb4520" /><Relationship Type="http://schemas.openxmlformats.org/officeDocument/2006/relationships/notesSlide" Target="/ppt/notesSlides/notesSlide20.xml" Id="Rdfe4cdc6d0e6457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f04e30aec44f9" /><Relationship Type="http://schemas.openxmlformats.org/officeDocument/2006/relationships/notesSlide" Target="/ppt/notesSlides/notesSlide21.xml" Id="Rd1e5120559a4486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2b88ef0554de5" /><Relationship Type="http://schemas.openxmlformats.org/officeDocument/2006/relationships/notesSlide" Target="/ppt/notesSlides/notesSlide22.xml" Id="R759392d9a9704d6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e6789aa094ffb" /><Relationship Type="http://schemas.openxmlformats.org/officeDocument/2006/relationships/image" Target="/ppt/media/image2.png" Id="R355262d8f08343e8" /><Relationship Type="http://schemas.openxmlformats.org/officeDocument/2006/relationships/notesSlide" Target="/ppt/notesSlides/notesSlide23.xml" Id="R8836b3ef96d746a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9270a0aed4faf" /><Relationship Type="http://schemas.openxmlformats.org/officeDocument/2006/relationships/image" Target="/ppt/media/image3.png" Id="R85c7de7f16104cfb" /><Relationship Type="http://schemas.openxmlformats.org/officeDocument/2006/relationships/notesSlide" Target="/ppt/notesSlides/notesSlide24.xml" Id="Rb79d2316f37f4a4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1feeca7cf40ca" /><Relationship Type="http://schemas.openxmlformats.org/officeDocument/2006/relationships/notesSlide" Target="/ppt/notesSlides/notesSlide25.xml" Id="R11089f668b0d468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c923bfd864c78" /><Relationship Type="http://schemas.openxmlformats.org/officeDocument/2006/relationships/image" Target="/ppt/media/image4.png" Id="R1600bfa4ab6c4e45" /><Relationship Type="http://schemas.openxmlformats.org/officeDocument/2006/relationships/notesSlide" Target="/ppt/notesSlides/notesSlide26.xml" Id="R8279bfe131b54df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6bf0f9a204284" /><Relationship Type="http://schemas.openxmlformats.org/officeDocument/2006/relationships/notesSlide" Target="/ppt/notesSlides/notesSlide27.xml" Id="R2dcdd29e823d419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cbe75dfa04c06" /><Relationship Type="http://schemas.openxmlformats.org/officeDocument/2006/relationships/notesSlide" Target="/ppt/notesSlides/notesSlide28.xml" Id="R657adf8efd6c49e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ffef7fccd4eaf" /><Relationship Type="http://schemas.openxmlformats.org/officeDocument/2006/relationships/notesSlide" Target="/ppt/notesSlides/notesSlide29.xml" Id="R9d48848a718d44a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0569835c64ca3" /><Relationship Type="http://schemas.openxmlformats.org/officeDocument/2006/relationships/image" Target="/ppt/media/image5.png" Id="R828a6e64f12d4746" /><Relationship Type="http://schemas.openxmlformats.org/officeDocument/2006/relationships/notesSlide" Target="/ppt/notesSlides/notesSlide30.xml" Id="R0015b8e279e64cb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7795312954e49" /><Relationship Type="http://schemas.openxmlformats.org/officeDocument/2006/relationships/image" Target="/ppt/media/image6.png" Id="R25f8b2e0697e48d3" /><Relationship Type="http://schemas.openxmlformats.org/officeDocument/2006/relationships/notesSlide" Target="/ppt/notesSlides/notesSlide31.xml" Id="R92eab706273b4ae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d42b590d64bae" /><Relationship Type="http://schemas.openxmlformats.org/officeDocument/2006/relationships/image" Target="/ppt/media/image7.png" Id="Re3f6ae3d2ed14826" /><Relationship Type="http://schemas.openxmlformats.org/officeDocument/2006/relationships/notesSlide" Target="/ppt/notesSlides/notesSlide32.xml" Id="Rf06d40bfaaa1497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90f69127f4358" /><Relationship Type="http://schemas.openxmlformats.org/officeDocument/2006/relationships/image" Target="/ppt/media/image8.png" Id="R23bf072e6a3b47e3" /><Relationship Type="http://schemas.openxmlformats.org/officeDocument/2006/relationships/notesSlide" Target="/ppt/notesSlides/notesSlide33.xml" Id="R22e4310f707d4e5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f43e6a7d74e3b" /><Relationship Type="http://schemas.openxmlformats.org/officeDocument/2006/relationships/image" Target="/ppt/media/image9.png" Id="R5f1e0ffe11624db9" /><Relationship Type="http://schemas.openxmlformats.org/officeDocument/2006/relationships/notesSlide" Target="/ppt/notesSlides/notesSlide34.xml" Id="Rc03eb95d3ed04f9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eb77f15d345ac" /><Relationship Type="http://schemas.openxmlformats.org/officeDocument/2006/relationships/notesSlide" Target="/ppt/notesSlides/notesSlide35.xml" Id="R234c4ed664904b2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f755f655e452f" /><Relationship Type="http://schemas.openxmlformats.org/officeDocument/2006/relationships/image" Target="/ppt/media/image10.png" Id="Rab3479655db5488f" /><Relationship Type="http://schemas.openxmlformats.org/officeDocument/2006/relationships/notesSlide" Target="/ppt/notesSlides/notesSlide36.xml" Id="R00620d706860409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53d37308449d4" /><Relationship Type="http://schemas.openxmlformats.org/officeDocument/2006/relationships/notesSlide" Target="/ppt/notesSlides/notesSlide37.xml" Id="Re2601cf799854ed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6a65072de4ee5" /><Relationship Type="http://schemas.openxmlformats.org/officeDocument/2006/relationships/image" Target="/ppt/media/image11.png" Id="R2e85faf8f22643c4" /><Relationship Type="http://schemas.openxmlformats.org/officeDocument/2006/relationships/notesSlide" Target="/ppt/notesSlides/notesSlide38.xml" Id="R190b44efb1a64dc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c5c787ca7494f" /><Relationship Type="http://schemas.openxmlformats.org/officeDocument/2006/relationships/image" Target="/ppt/media/image12.png" Id="R36c99d6a2111424e" /><Relationship Type="http://schemas.openxmlformats.org/officeDocument/2006/relationships/notesSlide" Target="/ppt/notesSlides/notesSlide39.xml" Id="R1f20305775bb448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b68507c7144c8" /><Relationship Type="http://schemas.openxmlformats.org/officeDocument/2006/relationships/notesSlide" Target="/ppt/notesSlides/notesSlide40.xml" Id="R8d4feee49f8e4f7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704e13e924504" /><Relationship Type="http://schemas.openxmlformats.org/officeDocument/2006/relationships/notesSlide" Target="/ppt/notesSlides/notesSlide41.xml" Id="R0e1400edb0d14bc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f50d3c3664bbc" /><Relationship Type="http://schemas.openxmlformats.org/officeDocument/2006/relationships/notesSlide" Target="/ppt/notesSlides/notesSlide42.xml" Id="R9d75a25131384f4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1b344591f4661" /><Relationship Type="http://schemas.openxmlformats.org/officeDocument/2006/relationships/notesSlide" Target="/ppt/notesSlides/notesSlide43.xml" Id="R023047c7a5f444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86CB4-C355-44C4-8571-28137A3D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5524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INS/GNSS Direct EKF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튜닝과 오차 원인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A1F71-517F-4A7E-A6A7-CC975063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7175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P·Q·R 민감도 실험과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7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Yaw 발산 문제의 단계적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33F20-1E3C-41A0-A2E2-BCFEC970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57625"/>
            <a:ext cx="1676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214E9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A2DBF-7474-4D11-9A8A-753DA744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5762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15-state Direct EKF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9AB63-F7D5-4277-8167-E585AA81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57625"/>
            <a:ext cx="1571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EBF04-E5A8-497E-83F3-7701E543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576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260212 VN-300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0F770-76A8-4C18-A3F9-84FE9B2F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816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김민설 · 2026.08.26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B9EC7-5652-4E7E-B0B2-59CB7874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"/>
            <a:ext cx="5562600" cy="5600700"/>
          </a:xfrm>
          <a:prstGeom xmlns:a="http://schemas.openxmlformats.org/drawingml/2006/main" prst="roundRect">
            <a:avLst>
              <a:gd name="adj" fmla="val 13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cd105f3664317"/>
          <a:stretch xmlns:a="http://schemas.openxmlformats.org/drawingml/2006/main"/>
        </p:blipFill>
        <p:spPr>
          <a:xfrm xmlns:a="http://schemas.openxmlformats.org/drawingml/2006/main">
            <a:off x="6286500" y="1073832"/>
            <a:ext cx="5448300" cy="4253136"/>
          </a:xfrm>
          <a:prstGeom xmlns:a="http://schemas.openxmlformats.org/drawingml/2006/main" prst="roundRect">
            <a:avLst>
              <a:gd name="adj" fmla="val 174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DF8B3-F709-4C90-BCE5-4ADCB429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647590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410F69-5529-4FCB-BD64-1183DFFB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학습의 흐름: 원리에서 실제 데이터까지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695F3-9871-4728-84B3-4471C5D9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STUDY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52C66-194D-45F9-B163-CF2E58C9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6573D-5E46-41F6-B91A-B066275D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19361-7033-41E7-9F0A-B21E6196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Strapdown INS의 기본 개념에서 출발해, 최종적으로 실제 로그의 P/Q/R 민감도를 분석했다.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FEF4D-5C34-41D8-A4FC-AA381FB4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86100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1B65F-58F3-4ECC-936A-C4C8C1C6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86100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C590A-4B1F-40DF-B288-5E15717A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86100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228A7-B28A-4324-8E69-D3B54FF5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86100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7B399-8889-44A0-9DF1-343BD792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86100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80DA8-F26E-407C-A0CE-927E1033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1524000" cy="27241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CC3A9-3547-4BB8-9014-0AF41C79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0">
            <a:solidFill>
              <a:srgbClr val="214E9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29534-FF34-44EA-BB9A-661DD70B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477F66-7E1A-4EBB-8673-FB65533C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181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Strapdown INS</a:t>
            </a:r>
          </a:p>
          <a:p xmlns:a="http://schemas.openxmlformats.org/drawingml/2006/main">
            <a:pPr>
              <a:defRPr sz="15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기본원리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8B31E-5A43-4F50-B718-F556E2B4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IMU 출력과</a:t>
            </a:r>
          </a:p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적분 오차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B5F3E-6778-4FDE-9793-9E299F0B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00250"/>
            <a:ext cx="1524000" cy="27241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7048B9-E741-4B73-9C0C-96ADA462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002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DB6179-EF22-422B-936C-B3A77305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669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7F031-0B38-481E-983B-23317E94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24150"/>
            <a:ext cx="1181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좌표계 및</a:t>
            </a:r>
          </a:p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자세 표현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EA5B60-99CA-4ED4-9B50-6ADBD4C1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0000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Body↔NED</a:t>
            </a:r>
          </a:p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Euler angle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40D46E-A4B8-4682-979F-B32537A8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00250"/>
            <a:ext cx="1524000" cy="27241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392B1E-5941-47AA-B6E0-9141206D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002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A16A"/>
          </a:solidFill>
          <a:ln xmlns:a="http://schemas.openxmlformats.org/drawingml/2006/main" w="0">
            <a:solidFill>
              <a:srgbClr val="3DA1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C09ADD-0D06-4458-BC33-AA415055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69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671A13-A1BA-4E5B-A74E-B68D46C5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1181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항법식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53683E-0917-4DDD-8E11-96494091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10000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자세·속도·위치</a:t>
            </a:r>
          </a:p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순차 전파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119560-3C09-4EF6-8747-D01A210C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524000" cy="27241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F1780B-6375-4EE1-BA64-9ACDEDA8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solidFill>
              <a:srgbClr val="FF741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99A74B-7A0F-4138-AA85-FC4D6B91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16019C-457B-46AC-B0A0-45141073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1181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Kalman</a:t>
            </a:r>
          </a:p>
          <a:p xmlns:a="http://schemas.openxmlformats.org/drawingml/2006/main">
            <a:pPr>
              <a:defRPr sz="150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Filter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A10B73-368D-4DC1-8866-0BCE6BF7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10000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예측과</a:t>
            </a:r>
          </a:p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측정 갱신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2BC4B4-644F-46DA-8BA3-929F9AFF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1524000" cy="27241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0B62EE-BCF4-45BA-828C-3B7867EB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4A"/>
          </a:solidFill>
          <a:ln xmlns:a="http://schemas.openxmlformats.org/drawingml/2006/main" w="0">
            <a:solidFill>
              <a:srgbClr val="D84A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64889C-083C-4140-AB78-CD169977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DE567D-291B-40E1-86B4-F6E48C6A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24150"/>
            <a:ext cx="1181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INS/GNSS</a:t>
            </a:r>
          </a:p>
          <a:p xmlns:a="http://schemas.openxmlformats.org/drawingml/2006/main">
            <a:pPr>
              <a:defRPr sz="15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통합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0F51EF-2DBA-4FAC-B43B-F0DF1F06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10000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고율 INS와</a:t>
            </a:r>
          </a:p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장기 GNSS 결합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EC07ED-7FEE-4D7C-B206-F23E73F8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00250"/>
            <a:ext cx="1524000" cy="27241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74B036-61DE-4CD4-98A5-B06BAB55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002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0">
            <a:solidFill>
              <a:srgbClr val="214E9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A663C7-9939-4DA3-9FF7-A3C5B06C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669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366703-EB06-4275-A362-07D12004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24150"/>
            <a:ext cx="1181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56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실제 데이터와</a:t>
            </a:r>
          </a:p>
          <a:p xmlns:a="http://schemas.openxmlformats.org/drawingml/2006/main">
            <a:pPr>
              <a:defRPr sz="15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P/Q/R 분석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82F363-5464-4152-AE68-2D8C3119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0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민감도·관측성</a:t>
            </a:r>
          </a:p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오차 원인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694D81-680F-4CD9-AA1E-E5FC14E8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149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이 발표는 마지막 단계의 실험 결과를 앞선 이론과 코드 구조로 설명한다.</a:t>
            </a:r>
          </a:p>
        </p:txBody>
      </p:sp>
    </p:spTree>
    <p:extLst>
      <p:ext uri="{BB962C8B-B14F-4D97-AF65-F5344CB8AC3E}">
        <p14:creationId xmlns:p14="http://schemas.microsoft.com/office/powerpoint/2010/main" val="16841123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FD07F9-0722-4F37-953A-63AA05E2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Strapdown INS는 IMU를 적분해 위치를 계산한다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66772-34B8-43F1-8465-7CF48855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STRAPDOWN 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FB728-B0E6-4807-B9A9-CB271F0A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F3928-5AB5-4714-B2B9-810F250F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65EF8-D9DB-4AB0-B2DF-9D3ECCC0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센서가 측정한 specific force와 angular rate를 항법 좌표계의 위치 정보로 바꾸는 과정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0AB71-7544-46CB-A711-3E154252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76450"/>
            <a:ext cx="266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2CCFB-8B57-4700-A8C4-AEE06853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76450"/>
            <a:ext cx="2076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120C1-BB2C-4B49-90CA-F9A344D1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4105B-F780-4EEB-A2CC-1F912CF0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76450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538FF-FC06-4C39-8533-75375FE6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981450"/>
            <a:ext cx="266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38B9-D0A3-4AD9-8003-BC4EBEC2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81450"/>
            <a:ext cx="2076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B5CC4-E289-4330-9D69-2166CB8E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57200" cy="8191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A6038-7852-4697-BF42-8CFC576A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1524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C00F4-76FB-4389-8935-BE3A14D4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Accelerometer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4E90A-D64E-4912-B996-8F4E5693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34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가속도계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42E48-9112-4703-89E0-E9D09DCD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90700"/>
            <a:ext cx="1524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4C7689-A091-42DF-8236-4B2D7FEF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240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Specific force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1E5A79-8635-404F-A744-D5296737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7647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34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비중력 가속도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2EBA64-445E-4076-93CC-7BEA38A7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907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A1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557086-92D8-4EFE-B939-D35E2837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NED 변환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7B1AB3-EC86-497D-B744-1D417E2D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76475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34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Cᵇₙ · fᵇ + gⁿ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835E24-0D3E-4CC0-B17A-8EA1A738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741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9640A1-A550-4352-B03B-0171099F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2405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속도 적분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942F7B-06EF-432C-BC4F-2B315776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76475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34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vₖ₊₁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FA07C2-D22C-4B86-AC5A-CC1316CF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7907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4A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1B8918-B5FF-4A1D-81E7-A89F0170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92405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위치 적분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C0D369-F0DA-4618-BB7A-0EAD68DC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276475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34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pₖ₊₁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C5B0CF-70D3-40EE-BFDD-965C24A8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1524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14E9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CC8D22-9FC9-4153-A91C-133EA412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Gyroscope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EA93FE-1458-4AA3-91AB-0514CE8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34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자이로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F49846-9B7F-412E-8BC8-AC157B20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95700"/>
            <a:ext cx="1524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14E9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F29DB2-4ACB-4D5A-823D-A007B876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290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Angular 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D8C807-3699-4E71-B9D1-36793895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8147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34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각속도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0DEC4A-045B-4941-BFFC-BA6FEC8D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957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741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61E0FF-9257-4412-81E7-34FA1C99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2905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자세 갱신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08BF38-195E-4DA0-BFAE-3579B479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81475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34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Roll·Pitch·Yaw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28C0AE-3B8A-436E-B865-390BC705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047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C38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97A64A-27E5-4030-A658-8EFD072A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38775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센서 오차가 자세·속도·위치 적분을 거치며 누적되므로, 시간이 지날수록 항법 오차가 커진다.</a:t>
            </a:r>
          </a:p>
        </p:txBody>
      </p:sp>
    </p:spTree>
    <p:extLst>
      <p:ext uri="{BB962C8B-B14F-4D97-AF65-F5344CB8AC3E}">
        <p14:creationId xmlns:p14="http://schemas.microsoft.com/office/powerpoint/2010/main" val="15082335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CAA103-1460-481A-90E4-2912F07B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그래서 GNSS와 Kalman Filter가 필요하다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97FF1-3AE1-4DCD-9D10-0BC41B1C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INS/GNSS FUSION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C6900-869A-446E-B5CF-3A05436F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5C20D-CD45-408B-925A-93B98FDF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D4272-D161-4B6D-8F27-5389F559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INS와 GNSS의 약점이 다르기 때문에, 예측과 측정 갱신을 결합해 서로의 오차를 보완한다.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0B207-7D8F-4CF5-8B33-B7134D78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00350"/>
            <a:ext cx="4381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19B46-733C-4289-AAC2-0524D802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438150" cy="4000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5A710-CCA2-4E77-ADF0-2FC9C950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19550"/>
            <a:ext cx="419100" cy="514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EFE69-A9AB-41A3-BD36-BB272A25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A2725-59EF-40C1-958F-16FACA0C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INS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325D3-BBD7-4380-AEA8-E9B353BC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476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6000"/>
              </a:lnSpc>
              <a:buNone/>
              <a:def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연속적인 고율 항법해</a:t>
            </a:r>
          </a:p>
          <a:p xmlns:a="http://schemas.openxmlformats.org/drawingml/2006/main">
            <a:pPr>
              <a:lnSpc>
                <a:spcPct val="126000"/>
              </a:lnSpc>
              <a:buNone/>
              <a:def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단기 정확도 우수</a:t>
            </a:r>
          </a:p>
          <a:p xmlns:a="http://schemas.openxmlformats.org/drawingml/2006/main">
            <a:pPr>
              <a:lnSpc>
                <a:spcPct val="126000"/>
              </a:lnSpc>
              <a:buNone/>
              <a:def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GNSS 음영구간에도 동작</a:t>
            </a:r>
          </a:p>
          <a:p xmlns:a="http://schemas.openxmlformats.org/drawingml/2006/main">
            <a:pPr>
              <a:lnSpc>
                <a:spcPct val="126000"/>
              </a:lnSpc>
              <a:buNone/>
              <a:def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시간이 지날수록 drift 누적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347CC-8DDC-401B-B9F6-BEAED44E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361950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14E9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A2DA6-534A-4D34-A6F3-E3CCB350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43150"/>
            <a:ext cx="293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Kalman Filter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AAB18A-8D5F-428B-A3A2-7ABC6C09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9900"/>
            <a:ext cx="293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INS 예측 + GNSS 측정 갱신</a:t>
            </a:r>
          </a:p>
          <a:p xmlns:a="http://schemas.openxmlformats.org/drawingml/2006/main">
            <a:pPr algn="ctr">
              <a:defRPr sz="150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P·Q·R로 신뢰도 조절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A5A21-9C3E-44A8-B85F-E3032A7C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097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BF6"/>
          </a:solidFill>
          <a:ln xmlns:a="http://schemas.openxmlformats.org/drawingml/2006/main" w="9525">
            <a:solidFill>
              <a:srgbClr val="A5D8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15670-756D-4764-941B-81746DF9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GNSS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4F4A0-3C01-4118-A59B-56CCD8CB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24150"/>
            <a:ext cx="2476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6000"/>
              </a:lnSpc>
              <a:buNone/>
              <a:def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장기 위치·속도 기준 제공</a:t>
            </a:r>
          </a:p>
          <a:p xmlns:a="http://schemas.openxmlformats.org/drawingml/2006/main">
            <a:pPr>
              <a:lnSpc>
                <a:spcPct val="126000"/>
              </a:lnSpc>
              <a:buNone/>
              <a:def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절대 위치 오차를 제한</a:t>
            </a:r>
          </a:p>
          <a:p xmlns:a="http://schemas.openxmlformats.org/drawingml/2006/main">
            <a:pPr>
              <a:lnSpc>
                <a:spcPct val="126000"/>
              </a:lnSpc>
              <a:buNone/>
              <a:def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갱신률이 낮음</a:t>
            </a:r>
          </a:p>
          <a:p xmlns:a="http://schemas.openxmlformats.org/drawingml/2006/main">
            <a:pPr>
              <a:lnSpc>
                <a:spcPct val="126000"/>
              </a:lnSpc>
              <a:buNone/>
              <a:def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multipath·순간 품질 저하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2B9B35-6A18-42BE-8AB9-7A4B20BC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3619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68F6A-4969-4271-B040-4AFEF49F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4822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통합 항법해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B2E8B-9FEC-42C3-B6F9-97B489A2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1970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연속성 + 장기 안정성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785C58-2970-4E0A-BD22-97349DA4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2455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본 실험에서는 P/Q/R과 간접 상태 보정이 이 결합에 미치는 영향을 분석했다.</a:t>
            </a:r>
          </a:p>
        </p:txBody>
      </p:sp>
    </p:spTree>
    <p:extLst>
      <p:ext uri="{BB962C8B-B14F-4D97-AF65-F5344CB8AC3E}">
        <p14:creationId xmlns:p14="http://schemas.microsoft.com/office/powerpoint/2010/main" val="7162066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2F46CF-3F3C-4132-AC36-BA7945FE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먼저 결론: 무엇이 실제로 바뀌었는가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EB025-A6B7-4629-9515-526CDB60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B03D0-AA3B-4580-95B7-9CCD3D8C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D7311-F563-4550-8C00-87DCD3F4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FA414-AA9E-4B38-983A-0A97CF0C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재실행한 20개 케이스에서 ‘효과가 있었던 조정’과 ‘축만 바꿔도 거의 안 바뀐 조정’을 분리했다.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A02C5-5F4C-4B5D-A761-686B3ADE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34861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6C594-FC23-4842-BD2E-34F4BF91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2C917-8B13-4B81-9085-71944F71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52.06° → 13.38°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E776D-C53D-4C1D-A135-33397461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 Case 6 · Z축 자이로 바이어스 P ×0.01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D48A7-9424-49A4-B39E-58746003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0289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74.3% 감소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DCCAB-AD5D-42BE-B8EF-E78BC637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34861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F0B3B-E28F-43F8-8BA0-E823D2C0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A16A"/>
          </a:solidFill>
          <a:ln xmlns:a="http://schemas.openxmlformats.org/drawingml/2006/main" w="0">
            <a:solidFill>
              <a:srgbClr val="3DA1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249EA-104E-4016-BF6F-3F73A50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05050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52.06° → 9.04°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15F32-F439-4266-8897-B1513D44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 Case 5 · 자이로 Q 전체 ×10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36566-71C5-4E6F-9D8A-4B12D294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86150"/>
            <a:ext cx="30289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82.6% 감소 · Roll/Pitch도 개선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B177A-CDE5-4011-AE9C-6F63ACA2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4861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76580F-1F10-4944-AFC8-C8F9ACD3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solidFill>
              <a:srgbClr val="FF741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D2A02-9B48-49F5-8630-399501FE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05050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901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Down 1.58 → 0.59 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D81B30-DBE9-4839-9E1B-F832E891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Adaptive R + K(15,:)=0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D57BE1-D1A5-4E7B-8AFC-26401C7D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86150"/>
            <a:ext cx="30289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Yaw 13.81° · East 2.48 m</a:t>
            </a:r>
          </a:p>
        </p:txBody>
      </p:sp>
    </p:spTree>
    <p:extLst>
      <p:ext uri="{BB962C8B-B14F-4D97-AF65-F5344CB8AC3E}">
        <p14:creationId xmlns:p14="http://schemas.microsoft.com/office/powerpoint/2010/main" val="11986691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2E43B-FB9B-49D0-9EAA-504A1931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연구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C7C24-B632-4D7A-A354-B0230597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 ·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BBC42-DCB0-43FD-BCA7-0CEC9517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71732-B9CF-4624-8DF1-1FB2F31D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C126E-278F-4010-95D8-ED4790CB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1435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C901A-D396-4E92-A09C-BC3D4F5F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Q1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0B88E-59E6-440A-9481-F6093722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4381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GNSS 위치·속도 보정만으로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왜 Yaw와 자이로 바이어스가 무너지는가?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195EE-3946-4059-A783-2799840C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직접 관측되지 않는 상태가 공분산의 교차항을 통해 간접 보정되는 구조를 확인한다.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DC774-8ED6-4E91-9290-3C5FFE95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47800"/>
            <a:ext cx="56007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A2F58-DAC2-4202-B5FD-E8F8ABB8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24050"/>
            <a:ext cx="47625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2000"/>
              </a:lnSpc>
              <a:buNone/>
              <a:defRPr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코드의 클램핑·가드·강제 제한을 전수 점검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P 8단계: 초기 상태 불확실성 민감도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Q 8단계: IMU 과정잡음 민감도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GNSS 품질 기반 Adaptive R 적용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수치 개선과 모델 정당성을 함께 평가</a:t>
            </a:r>
          </a:p>
        </p:txBody>
      </p:sp>
    </p:spTree>
    <p:extLst>
      <p:ext uri="{BB962C8B-B14F-4D97-AF65-F5344CB8AC3E}">
        <p14:creationId xmlns:p14="http://schemas.microsoft.com/office/powerpoint/2010/main" val="9392818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84DA2F-9BF5-4549-BCBA-8FD221DB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실험 데이터와 평가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B398B-03B3-4B79-BAED-FC0605C2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 ·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316B5-4E6E-4473-BFC0-A1F90D1A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19210-2887-4DFF-962B-177E9E00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A2AAC-073D-4C0C-846E-3A95F711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33909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9F73C-8E28-42C1-A6AC-4513415F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IMU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65A366-95A5-421E-898D-1531B66B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100 Hz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C0B33-9257-418C-83E2-CEB89619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가속도·각속도</a:t>
            </a:r>
          </a:p>
          <a:p xmlns:a="http://schemas.openxmlformats.org/drawingml/2006/main">
            <a:pPr>
              <a:defRPr sz="135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116,790 samples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3DD0E-8B8D-4CDF-BCF7-A77C8758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85900"/>
            <a:ext cx="33909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8C6E6-14B3-4F45-A2B7-FB098BCF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33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GNSS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E6166-C201-4EEE-830D-AFCD34DA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098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10 Hz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68272-D897-4388-9977-6359038B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6705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위치·속도</a:t>
            </a:r>
          </a:p>
          <a:p xmlns:a="http://schemas.openxmlformats.org/drawingml/2006/main">
            <a:pPr>
              <a:defRPr sz="135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11,679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CB975-3887-4A0E-AE5C-B4CB9384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85900"/>
            <a:ext cx="33909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F49753-6D6D-4AE4-98A6-6B4D396F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33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Reference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5F090A-3EFB-46AD-9BF9-C5B2CA38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098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VN-300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E851E-B940-401E-80B5-DDC6C016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6705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posEcef·velNed·YPR</a:t>
            </a:r>
          </a:p>
          <a:p xmlns:a="http://schemas.openxmlformats.org/drawingml/2006/main">
            <a:pPr>
              <a:defRPr sz="135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EKF 결과 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5402C-B2C8-4E42-9425-CE8C9589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24350"/>
            <a:ext cx="10953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27411-61E1-4103-9742-769940D0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평가 기준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0E7BF-C55A-4C5E-A96B-7904AC3F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초기 300 s 정렬 이후 · NED 위치/속도 · Roll/Pitch/Yaw · RMSE와 Max Error · 동일 로그/동일 초기 Yaw</a:t>
            </a:r>
          </a:p>
        </p:txBody>
      </p:sp>
    </p:spTree>
    <p:extLst>
      <p:ext uri="{BB962C8B-B14F-4D97-AF65-F5344CB8AC3E}">
        <p14:creationId xmlns:p14="http://schemas.microsoft.com/office/powerpoint/2010/main" val="14072604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6DC598-D68C-44BA-A5C6-DE600DBE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평가 구간: 정렬·주행·정지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04A63-6CA8-41FC-9843-143F714A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 ·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6D508-FE35-4AB0-A3E1-5DD683AD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302E1-D239-480D-945E-F355AA5D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C8A10-1DCE-426F-8D9A-2315379D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1009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3DD6C-0C29-41AB-AFC0-40710EFD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90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50A98-22A5-40A7-BBF5-B023013D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0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91FB9-245C-4818-B92A-2A7AEEA3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52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정렬 시작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85AFB-C09A-4A31-BCB4-89C5C3F5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719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가속도 평균·마지막 60 s 자이로 평균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A28E1-1C13-4F51-9147-5C952222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90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57AB5-DACF-4B8D-BB47-B149FDF9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300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A7661-4F1F-4ACE-9E53-D9CE6AB6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433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LC EKF 시작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4F101-6149-4A26-B10B-BF371C1F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6247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IMU 전파 100 Hz / GNSS 보정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4DCA2-1A10-4534-B810-F794B6A1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790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03648-DA3D-4233-BDF8-E886808D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479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약 890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E1E1E7-38A3-4C24-B834-00CECEA1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52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차량 정지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D0213-F6BD-4DEB-93B9-7EDA51A1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719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정지 후 Yaw drift 관찰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02BCF-89AB-4791-A5EB-B85D9A77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790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A16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5C148B-41DD-48CF-91F4-D34E2BAE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479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종료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0C99C-BFCD-4948-84E2-F8082C20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평가 종료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C468F-C312-4E9A-973E-D9A54C3E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6247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RMSE·Max Error 산출</a:t>
            </a:r>
          </a:p>
        </p:txBody>
      </p:sp>
    </p:spTree>
    <p:extLst>
      <p:ext uri="{BB962C8B-B14F-4D97-AF65-F5344CB8AC3E}">
        <p14:creationId xmlns:p14="http://schemas.microsoft.com/office/powerpoint/2010/main" val="2787809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0E9F1F-FCDA-4DD6-BF85-1CC84738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약결합 INS/GNSS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5BDCB-8F5F-4EDB-8B80-A825CF5F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 · 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37523-8414-4646-9C3E-DD1749BB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1A9F7-3A04-478A-82D3-C85E0E45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94479-C621-4DAC-B8C6-47D2FFEE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2095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14E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2EC00-0733-4539-BC4D-F251947D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IMU</a:t>
            </a:r>
          </a:p>
          <a:p xmlns:a="http://schemas.openxmlformats.org/drawingml/2006/main">
            <a:pPr algn="ctr">
              <a:defRPr sz="1575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100 Hz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562B5-9969-454E-A99C-CFC59F6C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71650"/>
            <a:ext cx="2381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AC74B-EE72-4877-9DD5-D8F99547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669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INS propagation</a:t>
            </a:r>
          </a:p>
          <a:p xmlns:a="http://schemas.openxmlformats.org/drawingml/2006/main">
            <a:pPr algn="ctr">
              <a:def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상태·P 예측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7885E-7EB4-4E19-A54B-C2E2FAAA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57650"/>
            <a:ext cx="2381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741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F860E-20DE-46DA-A4C5-79B7C959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529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GNSS correction</a:t>
            </a:r>
          </a:p>
          <a:p xmlns:a="http://schemas.openxmlformats.org/drawingml/2006/main">
            <a:pPr algn="ctr">
              <a:defRPr sz="157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위치·속도 갱신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69E2A-FD75-4852-A87E-91291512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14650"/>
            <a:ext cx="2381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A1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BB2BD-E9DB-41A5-8C0E-7AB80CE3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099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Direct EKF state</a:t>
            </a:r>
          </a:p>
          <a:p xmlns:a="http://schemas.openxmlformats.org/drawingml/2006/main">
            <a:pPr algn="ctr">
              <a:defRPr sz="1575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15-state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2782B-F63C-43F8-BEC9-086C9A8A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14650"/>
            <a:ext cx="2000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14E9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4BE63-E1D9-44F3-BC6B-3C8D47D8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099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항법해</a:t>
            </a:r>
          </a:p>
          <a:p xmlns:a="http://schemas.openxmlformats.org/drawingml/2006/main">
            <a:pPr algn="ctr">
              <a:defRPr sz="1575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pos·vel·att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56AA7-AFAB-41C5-A512-E83800CD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2095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741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3F166-D1F5-4F55-8F3A-21B49311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GNSS</a:t>
            </a:r>
          </a:p>
          <a:p xmlns:a="http://schemas.openxmlformats.org/drawingml/2006/main">
            <a:pPr algn="ctr">
              <a:defRPr sz="157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10 Hz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C079DB-F869-4FBE-937B-AEB923C5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57400"/>
            <a:ext cx="5524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3950C-D624-4C5D-BA3B-10C61018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57400"/>
            <a:ext cx="7239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A91B25-0592-4BE4-9F25-7F3306D3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43400"/>
            <a:ext cx="5524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06099-D52F-4E36-8AFE-710D37BE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43400"/>
            <a:ext cx="7239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2BE8A1-B69D-43E0-9146-31EEF2EE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00400"/>
            <a:ext cx="4572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94D2A4-579E-4795-8AAC-5B744080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7687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전파는 IMU 도착마다 · 갱신은 유효 GNSS 시각마다</a:t>
            </a:r>
          </a:p>
        </p:txBody>
      </p:sp>
    </p:spTree>
    <p:extLst>
      <p:ext uri="{BB962C8B-B14F-4D97-AF65-F5344CB8AC3E}">
        <p14:creationId xmlns:p14="http://schemas.microsoft.com/office/powerpoint/2010/main" val="7720140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75A565-993C-43C6-96C7-36D23DC6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코드 실행 흐름과 담당 파일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25476-7523-4665-9DF4-CE737E41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 · 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DFC0B-1064-485D-8473-1DE9A4F6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5333C-0CA3-4550-9F4A-F8BE7B59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2147A-9511-4BB3-AA5F-EA78FA6C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1962150" cy="23812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BC0BF-6621-4499-B080-D3637992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78DDC-A967-469C-8FCB-EEFCE246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Main.m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DD2EA-D834-4F18-AD20-8D8B03B6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로드·전처리</a:t>
            </a:r>
          </a:p>
          <a:p xmlns:a="http://schemas.openxmlformats.org/drawingml/2006/main">
            <a:pPr>
              <a:def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GNSS 시간 게이트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CFCF1-C78E-413B-B7E5-23C88687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27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D22AB-D3F2-4C11-8AA8-11A08D5C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00250"/>
            <a:ext cx="1962150" cy="23812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61963-C9DA-4668-A3AD-8AA67E18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52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DE3B9-58B1-4768-AF79-9DF773D3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289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ini_Navigation.m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89669-B601-4C47-89B9-9288BF17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814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초기 상태</a:t>
            </a:r>
          </a:p>
          <a:p xmlns:a="http://schemas.openxmlformats.org/drawingml/2006/main">
            <a:pPr>
              <a:def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P·Q·R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48DDE-58B8-4B9E-9C9A-8B56DFD9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527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3F30A-58BE-494E-92F3-3C900357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00250"/>
            <a:ext cx="1962150" cy="23812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EE54F-BE7F-49CE-A2B0-43DB380D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52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534FF-B03F-48D1-92B9-3AFDC4E1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289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navi_INS_</a:t>
            </a:r>
          </a:p>
          <a:p xmlns:a="http://schemas.openxmlformats.org/drawingml/2006/main">
            <a:pPr>
              <a:defRPr sz="120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alignment.m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14891-1943-4CD0-A98B-078B3388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814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300 s 정렬</a:t>
            </a:r>
          </a:p>
          <a:p xmlns:a="http://schemas.openxmlformats.org/drawingml/2006/main">
            <a:pPr>
              <a:def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초기 자세·bias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40DB4E-BD53-4AE7-A778-990B517D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527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9F20B2-222A-411D-A724-EF2D2E2D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1962150" cy="23812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D9F9E8-86E0-441C-937E-6C9535BB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52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E8B5C6-10CE-493E-BF25-4FAA60FE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289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navi_LC_Integ_</a:t>
            </a:r>
          </a:p>
          <a:p xmlns:a="http://schemas.openxmlformats.org/drawingml/2006/main">
            <a:pPr>
              <a:defRPr sz="120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propa_direct.m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F379A1-334B-4F70-8AAF-2628571B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814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IMU 전파</a:t>
            </a:r>
          </a:p>
          <a:p xmlns:a="http://schemas.openxmlformats.org/drawingml/2006/main">
            <a:pPr>
              <a:def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F·G·P⁻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4CD8A1-7F3A-49FD-85D0-36D6627F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527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D7E701-2701-4069-82CC-72543308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00250"/>
            <a:ext cx="1962150" cy="23812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75B900-FC79-47E0-9110-3E67A5C5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52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719F15-2468-48F9-B89A-90990905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289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navi_LC_Integ_</a:t>
            </a:r>
          </a:p>
          <a:p xmlns:a="http://schemas.openxmlformats.org/drawingml/2006/main">
            <a:pPr>
              <a:defRPr sz="12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GPS_correct_</a:t>
            </a:r>
          </a:p>
          <a:p xmlns:a="http://schemas.openxmlformats.org/drawingml/2006/main">
            <a:pPr>
              <a:defRPr sz="12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direct.m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CB674D-518A-4775-9909-5D72A8C1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814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GNSS 보정</a:t>
            </a:r>
          </a:p>
          <a:p xmlns:a="http://schemas.openxmlformats.org/drawingml/2006/main">
            <a:pPr>
              <a:def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H·K·P⁺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334338-627A-4F6C-B7BA-5AD3EA49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05375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핵심 수정 지점은 초기 공분산(ini_Navigation)과 GNSS 보정(GPS_correct)에 집중된다.</a:t>
            </a:r>
          </a:p>
        </p:txBody>
      </p:sp>
    </p:spTree>
    <p:extLst>
      <p:ext uri="{BB962C8B-B14F-4D97-AF65-F5344CB8AC3E}">
        <p14:creationId xmlns:p14="http://schemas.microsoft.com/office/powerpoint/2010/main" val="19388151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452439-43D9-4E5D-B6F3-A2C114E7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15-state Direct EKF 상태벡터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06D23-9898-4CF0-88F3-B1EB5764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 · 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1D697-0EB4-49D4-85C6-FF8493F4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0BC8D-9A33-4BBF-BAC7-2D7EB606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49910-1917-43DB-BFB0-10A607E8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X = [ Pₙ  Pₑ  Pᴅ  Vₙ  Vₑ  Vᴅ  ϕ  θ  ψ  bₐₓ  bₐᵧ  bₐ𝓏  bɢₓ  bɢᵧ  bɢ𝓏 ]ᵀ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0FC1B-B850-42EA-AC93-96EE675B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95600"/>
            <a:ext cx="1981200" cy="2057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4E780-0246-4416-9D5A-6F77C38A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1–3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16408-7FF6-42D4-8912-2D8B6D1A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Position 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33B14-1DA5-497A-99E3-80D5B7C8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B2451-E7B8-4F1A-806D-0DDA2483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95600"/>
            <a:ext cx="1981200" cy="2057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41F5E-BE5A-462E-AC68-037B512A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05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4–6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EE21E1-E54E-4CDA-9BC8-B5BCDA67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195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Velocity 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7D78D-E6A4-493F-AA14-F8A8A6FE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386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m/s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9643D-E0C3-4770-A193-771514BC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95600"/>
            <a:ext cx="1981200" cy="2057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0AC3C-D633-49A1-A69C-A5F172E1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05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7–9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89E7E-A936-409C-8AF6-ADBD1AA4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195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Roll · Pitch · Yaw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2C0FB-4432-4F5B-A6C9-0349DA17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386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rad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63E86-DE3E-4A3F-A067-AC4C4ECF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1981200" cy="2057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80993-8871-4250-BCE7-902B4A55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10–12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190A2-2DEA-4A17-B4A2-D30B324B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195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Accelerometer bias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F91A7F-8A2E-4A9E-A453-FEBC838D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386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m/s²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AFA4DD-B54D-476F-9D3C-0A73485C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95600"/>
            <a:ext cx="1981200" cy="2057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067DA-E19E-48C7-AEAA-C35D9BA3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05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13–15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7FF94B-7495-4AE8-8A30-F820BB17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195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Gyroscope bias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949D31-6F4E-40F8-B6BC-BD49564E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386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rad/s</a:t>
            </a:r>
          </a:p>
        </p:txBody>
      </p:sp>
    </p:spTree>
    <p:extLst>
      <p:ext uri="{BB962C8B-B14F-4D97-AF65-F5344CB8AC3E}">
        <p14:creationId xmlns:p14="http://schemas.microsoft.com/office/powerpoint/2010/main" val="12992924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E9CA6-EBBA-4DFB-ADAB-E6A725D7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초기 정렬: 무엇을 관측하고 무엇을 빌려오는가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850C8-35C3-4A8B-81FA-50960457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 · 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686B6-44A6-4C06-8F0E-93E4D094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8EFF0-F4B5-406F-9024-A6F5AAA1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F359B-0852-407D-82CF-5C82C5DC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43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53550-4D78-45A2-90F5-6BE714E8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navi_INS_alignment.m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00D6F-EA6B-44AF-9456-9624C899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4800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meanGyroBias = sumGyroBias / countGyroBias;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roll0  = atan2(-Ay, -Az);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pitch0 = asin(Ax / g);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yaw0   = Nav.output.att(3);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39A58-DBF2-4E61-B3AC-98262167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85900"/>
            <a:ext cx="53911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188E3-F49C-4830-8D57-64A83265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46672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Roll/Pitch: 정지 중 중력벡터로 계산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Gyro bias: 정렬 마지막 60 s 평균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Yaw: 중력만으로 산출 불가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초기 Yaw는 주행 초기 GNSS COG로 설정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7B367-FB5E-41F1-8D9C-8BEE558E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초기 Yaw가 틀리면 이후 GNSS 위치·속도만으로 완전히 복구하기 어렵다.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022E3-7FFF-47C0-BD62-5D9BED02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이번 데이터: Initial Yaw = −0.8222° · 정렬 Gyro bᵍ_z = −0.1678×10⁻³ rad/s</a:t>
            </a:r>
          </a:p>
        </p:txBody>
      </p:sp>
    </p:spTree>
    <p:extLst>
      <p:ext uri="{BB962C8B-B14F-4D97-AF65-F5344CB8AC3E}">
        <p14:creationId xmlns:p14="http://schemas.microsoft.com/office/powerpoint/2010/main" val="4116019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E4254-EEFA-4BBA-ABDA-EED3BF56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INS 상태 전파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7B15A-E080-4548-8E23-14DCCA49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 · 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C78DD-C89E-437C-9BCF-A305CEF7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53958-068D-4426-8AF7-8EFF5A91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C92F0-D828-44DE-803F-3C17CFC8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90650"/>
            <a:ext cx="6762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E968E-7F03-4412-B7E9-686F29D0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1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aⁿ = Cᵇₙ (fᵇ − bₐ) + gⁿ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E5708-B08C-4F4E-BA40-6B0D0E40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811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가속도: body → NED 변환 후 중력 결합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E67D3-37C1-4A29-8100-CC4AE129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6762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6C3A6-69DA-4875-8D7B-3C1D5F0F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1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pₖ₊₁ = pₖ + vₖΔt + ½aⁿΔt²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B9C3D-9643-4FDA-85B3-E5E94308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위치 적분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E9D9A-840F-420F-89C0-F986E9DB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6762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4A1EC-68D4-467F-A58E-3D2FF410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1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vₖ₊₁ = vₖ + aⁿΔt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C1821-2913-493E-9D97-F8CB14B6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속도 적분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58E63-75CF-41F4-9068-4EF5CCBB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6762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3E920-2176-4E85-9BE7-70BC1D41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1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Φₖ₊₁ = Φₖ + T(ϕ,θ)(ωᵇ−bɢ)Δt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18A56-71F6-4AF4-B748-0B2381EE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815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Euler 자세 적분</a:t>
            </a:r>
          </a:p>
        </p:txBody>
      </p:sp>
    </p:spTree>
    <p:extLst>
      <p:ext uri="{BB962C8B-B14F-4D97-AF65-F5344CB8AC3E}">
        <p14:creationId xmlns:p14="http://schemas.microsoft.com/office/powerpoint/2010/main" val="10116264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A458AB-C1F3-4F32-9948-98C1C142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공분산 전파: Q가 들어가는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7D628-E7B4-46E7-B2C1-E395199E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 · 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8E5E0-C1D2-45E3-B43C-DFD7AEA7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36D7E-0111-4598-9429-D6D74CF9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4ECB1-23B7-4A34-B4C0-5DC101F2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Pₖ₊₁⁻ = Fₖ Pₖ Fₖᵀ + Gₖ Qₖ Gₖᵀ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47BA9-CDC1-4BA4-B7D3-1F356A72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65984-DCF7-4B6C-B32A-A2F3B56D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0">
            <a:solidFill>
              <a:srgbClr val="214E9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CA0B1-6B67-4F69-931B-039CD59B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F = I + AΔt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764F1-FC3A-4064-84AD-E413F0C5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06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상태 간 민감도</a:t>
            </a:r>
          </a:p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자세→속도·위치</a:t>
            </a:r>
          </a:p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bias→자세·속도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527E6-2861-4ADD-8285-2C9E2BFF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33337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59DA3-E1D5-431D-964C-4419156A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762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A1C84-9008-462F-A220-9DA556F4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9085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G = BΔt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42896-34BA-448C-8F77-167E951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06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센서 노이즈가</a:t>
            </a:r>
          </a:p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15-state에 들어가는</a:t>
            </a:r>
          </a:p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경로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B43FA3-291B-4DA1-AE17-F938B974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33337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66006-0474-4A7A-A2F2-42EA73D8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762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solidFill>
              <a:srgbClr val="FF741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2B220-0851-4067-9005-24B1B879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Q = diag(qₐ,qɢ)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0F977-E5C4-430A-8112-BB731470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06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acc x/y/z</a:t>
            </a:r>
          </a:p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gyro x/y/z</a:t>
            </a:r>
          </a:p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6개 분산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5AA383-0E4A-4DCD-A521-2F6189CF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42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P = 0.5(P+Pᵀ)는 클램핑이 아니라 수치 오차로 생긴 비대칭을 제거하는 안전장치</a:t>
            </a:r>
          </a:p>
        </p:txBody>
      </p:sp>
    </p:spTree>
    <p:extLst>
      <p:ext uri="{BB962C8B-B14F-4D97-AF65-F5344CB8AC3E}">
        <p14:creationId xmlns:p14="http://schemas.microsoft.com/office/powerpoint/2010/main" val="20002594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E8B05-81DC-4962-8C3F-C447A4DE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GNSS 측정 갱신: 위치·속도만 직접 관측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56FC0-21CA-4B2D-9E2B-5648EE7F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 · 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3D954-6141-471D-A249-D97E03EC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59877-CAF8-40A6-AF4F-B57CE361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3964E-87DA-480C-8F7B-E8FAD85E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490537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82243-2143-4E52-8664-42E1D7D2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52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navi_LC_Integ_GPS_correct_direct.m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540EB-800B-4A2E-BDC1-8AE3BF54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562475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H = [eye(6), zeros(6,9)];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S = H*P*H' + R;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K = P*H'/S;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X = X + K*(Z - H*X);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EE412-B5A3-4940-A90C-CD83FB06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62100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H = [ I₆×₆   0₆×₉ 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F3AE7-E731-4F53-A071-7E25E554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81250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K = P⁻Hᵀ(HP⁻Hᵀ + R)⁻¹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91D9E-D35D-4415-8EFB-DEAB65A2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00400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P⁺ = (I−KH)P⁻(I−KH)ᵀ + KRKᵀ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51B4F-17C5-4FCA-BBCF-6A3B1751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95800"/>
            <a:ext cx="10572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33C69-0A4D-47B0-A695-B1221154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핵심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84BEE-9C49-4991-8A25-EC45C4FD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자세·바이어스는 H에서 직접 보이지 않지만, P의 교차공분산 때문에 K의 7~15행이 0이 아닐 수 있다.</a:t>
            </a:r>
          </a:p>
        </p:txBody>
      </p:sp>
    </p:spTree>
    <p:extLst>
      <p:ext uri="{BB962C8B-B14F-4D97-AF65-F5344CB8AC3E}">
        <p14:creationId xmlns:p14="http://schemas.microsoft.com/office/powerpoint/2010/main" val="11097313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DA15B-B6B4-4442-B39A-2182B64E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84BE3-6484-42E4-8990-3EFBDB03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335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 · Q · R을</a:t>
            </a:r>
          </a:p>
          <a:p xmlns:a="http://schemas.openxmlformats.org/drawingml/2006/main">
            <a:pPr>
              <a:defRPr sz="4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어떻게 읽을 것인가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5A83A-9597-464A-9C41-B36607AF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숫자 대입식처럼 보이더라도 실제로는 ‘분산’이다.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축 순서와 단위를 먼저 고정한 뒤 민감도 실험을 설계한다.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E2D9F-EDA4-4116-BB8F-6D400EEF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0">
            <a:solidFill>
              <a:srgbClr val="214E9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DFA19-85C1-4834-9EC1-09AB5411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62000"/>
            <a:ext cx="20383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285C5-655D-4E86-B5BD-F2D1316A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963070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18382C-868B-41AB-B0B8-D1371B9D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기본 P/Q/R: 코드와 대각행렬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3EB38-05A0-4F2C-89A6-CC77E8E2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 · COVARIANCE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B115D-BA9D-46E0-906E-1DB99A2D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85623-4ABA-436F-8FB3-FC501BAB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B4056-B135-4D0F-8326-E288D673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3562350" cy="40957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8813F-3933-42BF-8DFF-DA151D6B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3181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 · 초기 상태 공분산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6BBAB-7350-4D36-9FC2-4B31D3D4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21945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P = diag([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  5²,5²,5², 1²,1²,1²,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  (5°)²,(5°)²,(5°)²,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  0.1²,0.1²,0.1²,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  (0.01°)²,(0.01°)²,(0.01°)² ]);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1EDAE-8BC1-405F-9F58-78A3E1C8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52550"/>
            <a:ext cx="3562350" cy="40957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365B9-C1DB-4828-9202-E9BC59A4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85900"/>
            <a:ext cx="3181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Q · 프로세스 노이즈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78419-8583-4A65-B730-DE94DBA1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321945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Q = diag([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  0.1²,0.1²,0.1²,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  (0.01°)²,(0.01°)²,(0.01°)² ]);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순서 = [acc_x acc_y acc_z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        gyro_x gyro_y gyro_z]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E1A9F-5911-4EAF-8328-8EC442F9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52550"/>
            <a:ext cx="3562350" cy="40957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AF952-12B9-4B75-AC05-52D7C89E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85900"/>
            <a:ext cx="3181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R · GNSS 측정 노이즈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9AA92-F74F-4BCD-B9E6-2964F06F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21945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R = diag([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  3²,3²,5²,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  0.3²,0.3²,0.3² ]);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순서 = [Pos_N Pos_E Pos_D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        Vel_N Vel_E Vel_D]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CABBF-A464-4A6E-BDE1-5FEF272B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[1, 1, 3, 1, 1, 3]처럼 써도 되지만, 그 숫자가 σ인지 σ²인지 반드시 선언해야 한다.</a:t>
            </a:r>
          </a:p>
        </p:txBody>
      </p:sp>
    </p:spTree>
    <p:extLst>
      <p:ext uri="{BB962C8B-B14F-4D97-AF65-F5344CB8AC3E}">
        <p14:creationId xmlns:p14="http://schemas.microsoft.com/office/powerpoint/2010/main" val="2648397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2CD839A-A955-43A6-91A0-AB8D728F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코드 점검: ‘클램핑’으로 의심된 부분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DA686-846F-429B-B11E-CAAE692B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 · COVARIANCE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CA1EE-CD28-4B23-A3A8-F18A9CC2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525EE-9BCC-49A4-BA0D-4D343820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60A15-836E-4074-A46F-27748E37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817132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6D276-56CF-4A3B-A871-8A76278F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81125"/>
            <a:ext cx="1721882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1BAB1-4539-4882-ABF5-744D4E43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432" y="1352550"/>
            <a:ext cx="3075146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7BFBB-2318-48EB-B66F-B1E40E9D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057" y="1381125"/>
            <a:ext cx="2979896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코드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D8DAD-7A3F-4F9D-A2F2-41559B59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578" y="1352550"/>
            <a:ext cx="1817132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1B709-ED97-438C-B1E9-C6993C9C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203" y="1381125"/>
            <a:ext cx="1721882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E132E-AD89-4C96-8076-F828A406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1352550"/>
            <a:ext cx="4472940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CCE38-A569-452F-AAFB-70F28F63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1381125"/>
            <a:ext cx="437769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3FE1F-7B9E-40D2-9AC7-2A58FD22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0238"/>
            <a:ext cx="1817132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E2B7A-C942-48ED-8C17-CFBBB71B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28813"/>
            <a:ext cx="1721882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Gyro K 강제 차단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73D88-637F-4511-90D8-23C04AD0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432" y="1900238"/>
            <a:ext cx="3075146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A2BA40-136D-43EA-82A6-93F9003E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057" y="1928813"/>
            <a:ext cx="2979896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K(13:15,:)=0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4A7FD-034E-4BC5-B9EE-15404B1A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578" y="1900238"/>
            <a:ext cx="1817132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3B3CE4-CBA5-4B9D-9B80-37933550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203" y="1928813"/>
            <a:ext cx="1721882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제거 후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68C1E-34AC-4BDA-B48A-68BD7C2E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1900238"/>
            <a:ext cx="4472940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8FFE2C-6C47-4FEB-9F53-1056A81A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1928813"/>
            <a:ext cx="437769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bias 간접 관측을 인위적으로 막음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7D8D4C-B6B6-4C06-9C90-86759167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47925"/>
            <a:ext cx="1817132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E27C2A-EC5B-42A2-8B8F-881A8343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76500"/>
            <a:ext cx="1721882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asin 입력 제한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FD0E4-C196-4FB2-A077-07682FF3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432" y="2447925"/>
            <a:ext cx="3075146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8CED09-BFC7-4F87-9992-0EE6F23A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057" y="2476500"/>
            <a:ext cx="2979896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max(min(value,1),-1)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C8B081-B2B4-42CA-8DD0-7DCF7D4F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578" y="2447925"/>
            <a:ext cx="1817132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14DA3E-A3D7-43B2-B7F6-A3307D53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203" y="2476500"/>
            <a:ext cx="1721882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유지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E3BDFA-FB9E-48D6-AD07-E3897314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2447925"/>
            <a:ext cx="4472940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837303-91A8-42F8-BD0A-0E358A97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2476500"/>
            <a:ext cx="437769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부동소수점 정의역 보호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5D5C75-F6C3-4422-B181-AF553394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5613"/>
            <a:ext cx="1817132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B6E855-32C1-4874-BEEC-07E35964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024188"/>
            <a:ext cx="1721882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cos(pitch) 하한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1E22B9-9A03-45D9-B1BA-2E1DECA5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432" y="2995613"/>
            <a:ext cx="3075146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3021F7-6489-4BDC-A5A7-932FAF3C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057" y="3024188"/>
            <a:ext cx="2979896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|cosθ|&lt;1e-6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95A020-39A3-4337-B793-2FCBB7BA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578" y="2995613"/>
            <a:ext cx="1817132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8EDEB0-9FF4-4FF4-BBA0-E9951CDB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203" y="3024188"/>
            <a:ext cx="1721882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제거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AEBFC9-73A0-4CE1-A3F0-7059D3A8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2995613"/>
            <a:ext cx="4472940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6F81EE-27D4-4F60-9898-7DF8AF83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3024188"/>
            <a:ext cx="437769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 데이터에서 조건 0회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E2957C-2449-4F63-9179-3C0F20BF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43300"/>
            <a:ext cx="1817132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2E94D4-97D4-40BD-9945-FA711CC1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571875"/>
            <a:ext cx="1721882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비정상 dt 대체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0918CE-56E7-4C70-B63C-AC43F852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432" y="3543300"/>
            <a:ext cx="3075146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64C554-5F6A-47E9-8733-766F735C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057" y="3571875"/>
            <a:ext cx="2979896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dt=0.01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4D28FA-B0DF-46FF-B2AC-448F2110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578" y="3543300"/>
            <a:ext cx="1817132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A2693C-D9ED-4A50-A948-55102437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203" y="3571875"/>
            <a:ext cx="1721882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조건부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D71A30-7965-4CA2-A381-D80367DD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3543300"/>
            <a:ext cx="4472940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D7631B-DF94-41C1-9D00-95E9B5C4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3571875"/>
            <a:ext cx="437769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데이터에서 조건 0회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929C07-5D72-40C8-BD23-2C51DB0F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0988"/>
            <a:ext cx="1817132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D065B4-8E56-4466-9D55-938C4FC8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119563"/>
            <a:ext cx="1721882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Yaw wrapping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32FA1A-7389-4E89-8A99-0C289BA8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432" y="4090988"/>
            <a:ext cx="3075146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CFAF5F-320E-4081-BF88-E3235F8E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057" y="4119563"/>
            <a:ext cx="2979896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atan2(sinψ,cosψ)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DE8E89-01E6-452A-A378-AF86B7D3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578" y="4090988"/>
            <a:ext cx="1817132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EB35CE-F056-4C88-8AC5-A6D48E3F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203" y="4119563"/>
            <a:ext cx="1721882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유지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312D8CB-12C7-49CA-B38E-38FCD938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4090988"/>
            <a:ext cx="4472940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58F0A2-745C-46A8-B581-2D13526F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4119563"/>
            <a:ext cx="437769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각도 주기 정규화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D5B6CD-154F-4E5D-B75A-8A5864CE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38675"/>
            <a:ext cx="1817132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6C272E-8199-4CA2-9D5D-8A550AA2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667250"/>
            <a:ext cx="1721882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 대칭화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1D982E-5136-4A78-8BD9-454615C8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432" y="4638675"/>
            <a:ext cx="3075146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9C0D57-C2EB-47AC-9DD5-E0C4E001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057" y="4667250"/>
            <a:ext cx="2979896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0.5(P+P')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7BC450A-C499-411E-BF94-C4DBC584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578" y="4638675"/>
            <a:ext cx="1817132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369EBBD-204E-489B-A58B-76518B4B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203" y="4667250"/>
            <a:ext cx="1721882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유지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A5AF748-EAED-4B32-BBB2-46B15ADF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4638675"/>
            <a:ext cx="4472940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59885A3-0A0D-46F7-801A-115C4721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4667250"/>
            <a:ext cx="437769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수치적 비대칭 제거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C475CA6-A900-4F12-9832-1718936D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86363"/>
            <a:ext cx="1817132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C5D85A-5768-4C2F-97FF-8ECDAE97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214938"/>
            <a:ext cx="1721882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속도 0 재대입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40687D5-9C7C-4ABC-9F7B-3DB90A15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432" y="5186363"/>
            <a:ext cx="3075146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5A982FF-1A2E-45FF-AB9F-7AFC7907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057" y="5214938"/>
            <a:ext cx="2979896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X(4:6)=0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EEF4D54-BD80-470F-8297-519DE976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578" y="5186363"/>
            <a:ext cx="1817132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60F115-459D-4D54-8607-62A1FE49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203" y="5214938"/>
            <a:ext cx="1721882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제거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3E8CA3B-105F-4BF8-B4FF-8DA7E673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5186363"/>
            <a:ext cx="4472940" cy="547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D42EE67-2054-4E80-87D0-81E8F672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335" y="5214938"/>
            <a:ext cx="437769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이미 0이라 중복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A496676-9DF1-4641-BDFE-27F2E930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‘필요 없음’과 ‘없애도 안전함’은 다르다 → 조건 발생 횟수와 결과를 함께 확인</a:t>
            </a:r>
          </a:p>
        </p:txBody>
      </p:sp>
    </p:spTree>
    <p:extLst>
      <p:ext uri="{BB962C8B-B14F-4D97-AF65-F5344CB8AC3E}">
        <p14:creationId xmlns:p14="http://schemas.microsoft.com/office/powerpoint/2010/main" val="20431778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AFB8C-E677-4DCB-A49B-F055C410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실제 수정: 무엇을 뺐고 무엇을 남겼는가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02776-EB26-4FD9-95A6-BD992F76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 · COVARIANCE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B582B-6694-4C95-A7A9-A019CAA8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23E9C-CD27-4916-91C6-0E4BC633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FCB79-71BE-437E-B4E2-07458AD9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52197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3B2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AFA95-5B54-49F2-999E-D869E893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제거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ED0E3-1017-4121-8B20-431E536C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45339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2000"/>
              </a:lnSpc>
              <a:buNone/>
              <a:def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초기 정렬 후 속도 0 중복 대입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자이로 bias 샘플 없을 때 전체 평균 fallback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Euler cos(pitch) ±1e−6 강제 하한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원래 K(13:15,:)=0은 일단 제거해 영향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230FD-14C7-4E3A-B2BC-A86975A5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390650"/>
            <a:ext cx="542925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F2FBF6"/>
          </a:solidFill>
          <a:ln xmlns:a="http://schemas.openxmlformats.org/drawingml/2006/main" w="9525">
            <a:solidFill>
              <a:srgbClr val="A5D8B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4EDBF-C3D3-4C17-A746-692F9D43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유지 / 재도입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91BFE-A4DE-4325-89EC-5102F109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980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2000"/>
              </a:lnSpc>
              <a:buNone/>
              <a:def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asin 입력 정의역 보호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Yaw wrapping · yaw error wrapping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P 대칭화와 Joseph covariance update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GNSS 중복 시각·Fix·시간 동기 게이트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최종 단계에서 K(15,:)=0만 선택적으로 재도입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4F8CF-BC09-4381-BB57-E626738E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055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K 제한은 일반 안전장치가 아니라 관측성 부족을 임시로 다루는 설계 선택</a:t>
            </a:r>
          </a:p>
        </p:txBody>
      </p:sp>
    </p:spTree>
    <p:extLst>
      <p:ext uri="{BB962C8B-B14F-4D97-AF65-F5344CB8AC3E}">
        <p14:creationId xmlns:p14="http://schemas.microsoft.com/office/powerpoint/2010/main" val="7244492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50776A-22A0-4471-9BFD-8DF69255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K(13:15,:)=0 제거 결과: Yaw가 무너졌다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22AC9-A43D-4B43-9938-5C36AAC1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 · COVARIANCE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29A2F-3CB9-4AF8-95E1-CC78481B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B1002-8133-4D79-A1CE-1AB10B1E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77A93-FC27-4ADA-A8FB-B3C7BCF2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097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원래 전체 gyro bias 차단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620DB-8D9E-470A-878C-83ED694C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4097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제한 제거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BA1F4-4A09-43EC-9298-37F177DC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FC79B-F84C-48FC-B1FC-A33D1666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0">
            <a:solidFill>
              <a:srgbClr val="214E9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9C43A-5BF1-4787-96B5-ACD8AEE0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3.07°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C1E8F-CEF9-476C-85B1-E27B2019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Yaw RMSE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C77E6-CB7B-4988-83F9-F9B5B56F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686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Gyro bias는 정렬값 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D9713-12E1-4012-8FD4-8B7F7A92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12382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624E1-22C6-4405-A562-0A45D752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417A6-C7D0-4575-913A-268E92BE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4A"/>
          </a:solidFill>
          <a:ln xmlns:a="http://schemas.openxmlformats.org/drawingml/2006/main" w="0">
            <a:solidFill>
              <a:srgbClr val="D84A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6DA15-4766-4A89-B12D-2C4FD4D8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0980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52.06°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FC534-2D73-4332-9ABB-C0F3C6AD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5750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Yaw RMSE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BBD171-CB76-473A-A903-4768B9C8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90900"/>
            <a:ext cx="2686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Max 102.31°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F0E805-9903-435E-8628-8418FB24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4E5AE-962B-4099-A733-F950BD0A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solidFill>
              <a:srgbClr val="FF741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5B4230-089A-4EED-9A6F-93A0615E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098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81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+1.55×10⁻⁴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7722D-3669-4240-8C01-6123C485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최종 bᵍ_z [rad/s]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8D47C-6799-44D1-BE90-E11B030F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90900"/>
            <a:ext cx="2019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정렬 −0.168×10⁻³에서 부호 반전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405D80-F00B-4D8F-8D13-10D0941C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제약 제거 자체가 틀렸다는 뜻이 아니라, 현재 측정모델에서 bᵍ_z와 Yaw가 충분히 관측되지 않는다는 신호</a:t>
            </a:r>
          </a:p>
        </p:txBody>
      </p:sp>
    </p:spTree>
    <p:extLst>
      <p:ext uri="{BB962C8B-B14F-4D97-AF65-F5344CB8AC3E}">
        <p14:creationId xmlns:p14="http://schemas.microsoft.com/office/powerpoint/2010/main" val="68803941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C5C71-1EE2-4374-857F-8448FE44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Yaw 발산의 연결고리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B346C-5AF8-4D60-922E-EEC6BF9E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 · COVARIANCE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5431F-A5BE-40BA-A403-FB6F3FA4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2ACA9-F29E-4C6E-A6B1-3927732B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5898F-F042-4F31-BA65-C8173447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7F43D-CDB9-4878-A222-49BCF91D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GNSS 위치·속도</a:t>
            </a:r>
          </a:p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residual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FF5C1-CAD3-4F7D-A997-F46FC965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860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14E9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1EFAD-4859-405D-92C1-07B3D884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P의 교차공분산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76ECA-1483-4DB0-96C1-B4485636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860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741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D2527-927E-451A-A7AB-85700D7B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K(15,:) ≠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2A3BD-3AC6-4A47-AF87-AADC9405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5740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4A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53438-1275-4D4D-823E-802E63A7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7170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bᵍ_z 잘못 보정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3F057-6C62-4D48-BA6A-C6006417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385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4A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FA64D-A256-471F-A1FA-7266CFF1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528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Yaw 적분 drift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A7496-EFF4-4843-B607-D2D0E973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71800"/>
            <a:ext cx="476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B0712-D9D9-44A2-9448-D5D613A6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7180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103AAD-7110-4FE3-8E97-FA4E69FA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76550"/>
            <a:ext cx="323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FA0A6-6255-47F2-89D8-951772B1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48000"/>
            <a:ext cx="40005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EA331B-F075-4ECE-B6B2-96A537A2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577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H가 직접 측정하지 않는 상태도 P를 통해 움직인다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39910-E15D-428A-A66C-4C527C00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007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해결 방향: bias P를 낮추거나 · gyro Q를 키우거나 · K 행을 제한하거나 · heading 관측을 추가</a:t>
            </a:r>
          </a:p>
        </p:txBody>
      </p:sp>
    </p:spTree>
    <p:extLst>
      <p:ext uri="{BB962C8B-B14F-4D97-AF65-F5344CB8AC3E}">
        <p14:creationId xmlns:p14="http://schemas.microsoft.com/office/powerpoint/2010/main" val="6289424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925E595-51A1-4B8F-8672-EBD2F967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 실험 설계: 8개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6F4EA-F25D-4B9A-8EBF-51BE2BF4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 · P 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B4776-BFDC-4172-9B44-751F09B0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1CD23-1B29-428B-A7AC-2EF2F11D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C844D-1E1E-4F7A-BE29-41DD5C72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14450"/>
            <a:ext cx="10382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F87A3-7731-44AF-BEA7-3C7A7D80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343025"/>
            <a:ext cx="942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78850-C418-427E-87B4-7D1935F7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314450"/>
            <a:ext cx="3114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ECE7A-7502-43CB-A019-39702F75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343025"/>
            <a:ext cx="3019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변경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E7146-7BCC-44EC-BFBA-13BF5B99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314450"/>
            <a:ext cx="6229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ED6B2-89CD-4572-939B-3AC27C61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343025"/>
            <a:ext cx="613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실험 의도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32B78-CF79-4E47-B759-242A80E5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28800"/>
            <a:ext cx="10382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079F5-0CFB-43D1-95A8-72DBF118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857375"/>
            <a:ext cx="942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CB9371-2DB5-4FDA-88D0-231C8365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828800"/>
            <a:ext cx="3114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6D048-4C81-48E0-8C44-3529E1F2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3019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 전체 ×10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ECC9D-118D-4AF5-9EF8-CAB5DF03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28800"/>
            <a:ext cx="6229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037530-B411-492F-B053-8FD8A838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857375"/>
            <a:ext cx="613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초기 상태를 더 불신뢰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DCA2C-87CC-4E80-9AC2-DCEF637C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0382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10C9DC-FC66-40EB-8CD0-8B0887F4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71725"/>
            <a:ext cx="942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4051E9-27E5-495D-966E-47017C7B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343150"/>
            <a:ext cx="3114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7B7569-17BC-4E44-A643-3F8FCE88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71725"/>
            <a:ext cx="3019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 전체 ×0.1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A5DB3D-1FA2-4CA2-B3B8-7EA2FCEF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43150"/>
            <a:ext cx="6229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7F21E6-3E48-474B-9259-89BCF6A3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371725"/>
            <a:ext cx="613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초기 상태를 더 신뢰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DB32BF-B511-49D7-A371-73E0E9C8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0382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0F78B6-CE2D-443A-B165-E2C73E84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86075"/>
            <a:ext cx="942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518229-FECC-44BA-B942-8F4DC262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857500"/>
            <a:ext cx="3114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428668-8798-4B42-B1E0-E689079F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86075"/>
            <a:ext cx="3019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P(13:15) ×0.1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C82D61-9BFC-486F-B284-90BF8F6D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6229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33185C-B043-4136-B0DE-A0CE714E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886075"/>
            <a:ext cx="613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전체 gyro bias 과보정 확인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0CD02-88CC-4D66-A461-1523A911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0382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8A1E33-760C-4FC9-9E5E-DE5F675F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00425"/>
            <a:ext cx="942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BB062F-EE27-4093-96F4-D09D7DD3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371850"/>
            <a:ext cx="3114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5720B4-4291-40D5-8200-FD01A1F9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00425"/>
            <a:ext cx="3019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P(13:15) ×0.01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99E2FF-46D0-4AB0-AC18-DDE6ECAF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71850"/>
            <a:ext cx="6229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5D308C-0BDE-41D7-A8B1-91A369D1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400425"/>
            <a:ext cx="613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정렬 bias를 더 강하게 신뢰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A653FC-BE33-412E-96E2-73A15C46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10382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11CCC1-4DEA-4700-8CB4-D97154C0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914775"/>
            <a:ext cx="942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193926-BE8D-4F94-B3AE-04C9BA55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886200"/>
            <a:ext cx="3114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EA1754-B775-4442-8793-BB9E9E26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14775"/>
            <a:ext cx="3019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P(15,15) ×0.1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60F6DC-D8D5-4C52-BD92-0064F0E3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86200"/>
            <a:ext cx="6229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8C48E7-A549-43A4-B4D6-C9B473C0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914775"/>
            <a:ext cx="613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Z gyro bias만 분리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73A795-1E7E-4CE0-9BE8-6C05135C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10382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F18E5B-2ABF-400E-997E-8BD37A27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429125"/>
            <a:ext cx="942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543FCA-CC50-40CB-854E-1CE68795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400550"/>
            <a:ext cx="3114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3DD0B9-AF84-4459-BF12-1B4A9AC5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29125"/>
            <a:ext cx="3019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P(15,15) ×0.01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317A8F-F02E-4C4B-9BF4-65EA964A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00550"/>
            <a:ext cx="6229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FC2F2B-58D6-40A2-A05C-D159CB71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429125"/>
            <a:ext cx="613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Z gyro bias를 강하게 고정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EFB305-BBF9-481E-AB95-CDAC3369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10382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78FCEC-C13F-4DB3-8648-02E841C5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943475"/>
            <a:ext cx="942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FE46FC-39C4-4D68-B8B3-A04C9320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914900"/>
            <a:ext cx="3114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3D4CB5-5251-487D-9826-C4DF8CAE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943475"/>
            <a:ext cx="3019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P(9,9) ×0.1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8C8061F-7306-419F-93B6-5F06EC2A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14900"/>
            <a:ext cx="6229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811953-9D9E-4665-A55B-8629BDBA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943475"/>
            <a:ext cx="613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초기 Yaw 신뢰 증가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F815FE-2898-4BB4-8AD2-31BC3598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382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D9CC5F-A787-46F9-A69D-6A6459E8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457825"/>
            <a:ext cx="942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32566AF-3AB7-48C4-90A8-060D9AD7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429250"/>
            <a:ext cx="3114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0D4EBE-F039-4BCE-8654-5273E68B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457825"/>
            <a:ext cx="3019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P(9,9) ×10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E8513D5-F4ED-4813-8163-1AF4A576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429250"/>
            <a:ext cx="6229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AC7FA1-8AEE-4FEC-A02E-7FC473EC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457825"/>
            <a:ext cx="613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초기 Yaw 신뢰 감소</a:t>
            </a:r>
          </a:p>
        </p:txBody>
      </p:sp>
    </p:spTree>
    <p:extLst>
      <p:ext uri="{BB962C8B-B14F-4D97-AF65-F5344CB8AC3E}">
        <p14:creationId xmlns:p14="http://schemas.microsoft.com/office/powerpoint/2010/main" val="18958335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8E36B-BC67-414B-B71A-15273C27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 Case 1~2: 전체 스케일은 방향성이 단순하지 않았다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0EE36-09DB-470D-8D5B-8AB297C2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 · P 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0E3B4-364C-447E-B61F-99B04590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D80C4-21D2-43F5-AF44-E12E6BE1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7A015-D541-4D0B-B864-4B86178F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2D7C7-2EE9-48E8-B58A-0D2C07A4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4A"/>
          </a:solidFill>
          <a:ln xmlns:a="http://schemas.openxmlformats.org/drawingml/2006/main" w="0">
            <a:solidFill>
              <a:srgbClr val="D84A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0287E-EA1E-4CC6-9282-42AC2C59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55.20°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6875F-CEA0-4583-A4DD-1BEB6A31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P1 · P 전체 ×10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F89E9-5289-46F5-8B90-420E38B4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기본 52.06°보다 악화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1B68D-785E-4829-8AA0-9CD5B215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3238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F5A86-945B-4169-AC09-777D19B9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A16A"/>
          </a:solidFill>
          <a:ln xmlns:a="http://schemas.openxmlformats.org/drawingml/2006/main" w="0">
            <a:solidFill>
              <a:srgbClr val="3DA1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01A34-15F5-4683-A09A-EEE3AC9A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32.26°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09BCD-4826-4FF4-90D3-0C21E726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P2 · P 전체 ×0.1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7896A-9EF6-4396-886E-C7357525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Yaw는 개선, 위치 개선은 제한적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000ED-AFB4-4A93-A51E-63CC76CD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52550"/>
            <a:ext cx="7448550" cy="4686300"/>
          </a:xfrm>
          <a:prstGeom xmlns:a="http://schemas.openxmlformats.org/drawingml/2006/main" prst="roundRect">
            <a:avLst>
              <a:gd name="adj" fmla="val 16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262d8f08343e8"/>
          <a:stretch xmlns:a="http://schemas.openxmlformats.org/drawingml/2006/main"/>
        </p:blipFill>
        <p:spPr>
          <a:xfrm xmlns:a="http://schemas.openxmlformats.org/drawingml/2006/main">
            <a:off x="4181604" y="1409700"/>
            <a:ext cx="7276841" cy="4572000"/>
          </a:xfrm>
          <a:prstGeom xmlns:a="http://schemas.openxmlformats.org/drawingml/2006/main" prst="roundRect">
            <a:avLst>
              <a:gd name="adj" fmla="val 2083"/>
            </a:avLst>
          </a:prstGeom>
        </p:spPr>
      </p:pic>
    </p:spTree>
    <p:extLst>
      <p:ext uri="{BB962C8B-B14F-4D97-AF65-F5344CB8AC3E}">
        <p14:creationId xmlns:p14="http://schemas.microsoft.com/office/powerpoint/2010/main" val="45619471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7580E-88E5-4285-8818-DFBE3AE2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 Case 3~6: Yaw 52°를 어디까지 줄였는가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C684B-A674-46DB-BCCA-4AAA2938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 · P 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E9F70-DFDA-4823-8591-CBE4A26C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9BF6C-1084-4415-B3E0-DC6441EE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9B345-B945-4E80-BF98-00898339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182350" cy="5010150"/>
          </a:xfrm>
          <a:prstGeom xmlns:a="http://schemas.openxmlformats.org/drawingml/2006/main" prst="roundRect">
            <a:avLst>
              <a:gd name="adj" fmla="val 1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7de7f16104cfb"/>
          <a:stretch xmlns:a="http://schemas.openxmlformats.org/drawingml/2006/main"/>
        </p:blipFill>
        <p:spPr>
          <a:xfrm xmlns:a="http://schemas.openxmlformats.org/drawingml/2006/main">
            <a:off x="2276558" y="1314450"/>
            <a:ext cx="7619834" cy="4895850"/>
          </a:xfrm>
          <a:prstGeom xmlns:a="http://schemas.openxmlformats.org/drawingml/2006/main" prst="roundRect">
            <a:avLst>
              <a:gd name="adj" fmla="val 1946"/>
            </a:avLst>
          </a:prstGeom>
        </p:spPr>
      </p:pic>
    </p:spTree>
    <p:extLst>
      <p:ext uri="{BB962C8B-B14F-4D97-AF65-F5344CB8AC3E}">
        <p14:creationId xmlns:p14="http://schemas.microsoft.com/office/powerpoint/2010/main" val="40523440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C91B416-C6BE-4A5D-92A9-0F9BAED1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 Case 3~6 수치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B68A1-D7D6-4CA0-B22A-A6F18D5D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 · P 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A97BF-842D-478B-8E48-69A4E3FE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5612C-FCFC-4F5F-AA33-E3B0B0E2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B617F-8199-4924-A2EA-E511B544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1016577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3B79A-BAF6-4CF9-A067-9EB7CD43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14475"/>
            <a:ext cx="921327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FFAD2-CA56-4D49-A263-6881C561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77" y="1485900"/>
            <a:ext cx="165193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8AD3D-E3AE-4BA5-8607-B3D0E414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502" y="1514475"/>
            <a:ext cx="155668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Yaw RMSE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8B6C1-0618-43B4-B049-EC062900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15" y="1485900"/>
            <a:ext cx="1524866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612A2-7B99-4FA6-9273-02F8F444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440" y="1514475"/>
            <a:ext cx="1429616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기본 대비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C251C-2A3B-4761-A3D3-75B25F10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681" y="1485900"/>
            <a:ext cx="1524866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662D5-D736-44E7-BB3D-3E6EE541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306" y="1514475"/>
            <a:ext cx="1429616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Yaw Max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EBFBD-59CA-46B3-9B81-E9AC3BD9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547" y="1485900"/>
            <a:ext cx="2287299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A41FB-E635-4D50-821E-C3D25E8A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72" y="1514475"/>
            <a:ext cx="2192049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Pos N/E RMSE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28398-7CEB-4F1A-8B30-6F7A0454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846" y="1485900"/>
            <a:ext cx="3176804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534CA9-DB17-4327-AB0E-CDF58788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471" y="1514475"/>
            <a:ext cx="3081554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1641F-0C78-4464-AD5C-6D3D121D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9775"/>
            <a:ext cx="1016577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A40C8-E2EC-48A0-B1DC-FE9C37C3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38350"/>
            <a:ext cx="921327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81DDCD-2C1D-4EF8-8F25-155E2C7C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77" y="2009775"/>
            <a:ext cx="165193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B1E01C-9D85-4041-AF21-AB177AA1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502" y="2038350"/>
            <a:ext cx="155668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52.06°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9ED81-9588-47DD-9818-741A2FC3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15" y="2009775"/>
            <a:ext cx="1524866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70F184-B41D-48EC-B296-BEA65D92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440" y="2038350"/>
            <a:ext cx="1429616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40C855-33A0-45F4-930D-342E4180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681" y="2009775"/>
            <a:ext cx="1524866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FFE0E9-659B-4C8D-A53D-FF95134A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306" y="2038350"/>
            <a:ext cx="1429616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102.31°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1FAC0E-38D7-481F-93A6-2183D971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547" y="2009775"/>
            <a:ext cx="2287299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090D08-CE18-491C-AE55-E01807A4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72" y="2038350"/>
            <a:ext cx="2192049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3.02 / 5.61 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FF69E6-C3A4-436C-8634-34BDDF24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846" y="2009775"/>
            <a:ext cx="3176804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747687-CECA-4D83-B348-256401E8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471" y="2038350"/>
            <a:ext cx="3081554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bᵍ_z 부호 반전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E4AFE8-EE98-4D67-B433-D9D5419E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33650"/>
            <a:ext cx="1016577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A42050-8B2C-40A3-8F2B-471F7B2D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562225"/>
            <a:ext cx="921327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93EB99-01DF-4002-93B7-33BC2A3F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77" y="2533650"/>
            <a:ext cx="165193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92770D-8395-4716-93CD-8E06A39D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502" y="2562225"/>
            <a:ext cx="155668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30.85°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6442B0-34EB-41F7-95B9-E1825D15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15" y="2533650"/>
            <a:ext cx="1524866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246344-12F8-4468-A1AB-4E7839F1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440" y="2562225"/>
            <a:ext cx="1429616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40.7%↓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88AEC6-AFE7-4CE2-822E-822B9343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681" y="2533650"/>
            <a:ext cx="1524866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8F08F3-0F25-43C2-8AA8-ADCE5A05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306" y="2562225"/>
            <a:ext cx="1429616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67.77°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B635C2-4676-4D17-9897-0244B333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547" y="2533650"/>
            <a:ext cx="2287299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8645C9-999A-45FD-865C-58A4BBB6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72" y="2562225"/>
            <a:ext cx="2192049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3.15 / 5.23 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1BFD96-BAA9-4AE7-ADD4-F97E13BB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846" y="2533650"/>
            <a:ext cx="3176804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B158B5-E0B2-46EF-BD51-A21C8FD2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471" y="2562225"/>
            <a:ext cx="3081554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전체 gyro bias P ×0.1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0231D6-CC2B-44CC-BCF7-79F6668A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57525"/>
            <a:ext cx="1016577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7C0D16-429C-435C-99EB-18913F88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086100"/>
            <a:ext cx="921327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BD2883-E80E-4E10-8969-255F7B70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77" y="3057525"/>
            <a:ext cx="165193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9B0603-C175-4019-AD3E-221D022D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502" y="3086100"/>
            <a:ext cx="155668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15.21°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45E3F7-6F71-4547-9C1C-AA328A04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15" y="3057525"/>
            <a:ext cx="1524866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D07E29-0CE2-4F8E-B9AA-5069FD5D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440" y="3086100"/>
            <a:ext cx="1429616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70.8%↓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248FC0-E822-4CE9-A166-4EFD7DEA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681" y="3057525"/>
            <a:ext cx="1524866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240966-2AFE-482C-AC38-2288F7FF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306" y="3086100"/>
            <a:ext cx="1429616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37.73°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C855D8-DDD8-4971-BD64-BC5FCE5F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547" y="3057525"/>
            <a:ext cx="2287299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EA5055-64C2-487C-813B-B00D7431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72" y="3086100"/>
            <a:ext cx="2192049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3.98 / 4.34 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786EF6-6ED8-4ADB-892F-B01494F4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846" y="3057525"/>
            <a:ext cx="3176804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C19470-7495-4DE3-8301-03CF851F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471" y="3086100"/>
            <a:ext cx="3081554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전체 gyro bias P ×0.01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B497E36-3038-4050-8553-F266BB62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81400"/>
            <a:ext cx="1016577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489807-2223-468F-A74C-8F25BAA9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609975"/>
            <a:ext cx="921327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D6B2F8-C989-4997-935B-74508E51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77" y="3581400"/>
            <a:ext cx="165193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629F14-8886-4B93-A839-E6F31EF9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502" y="3609975"/>
            <a:ext cx="155668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30.79°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9AE51A-23E5-4B79-8EA6-B053C69A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15" y="3581400"/>
            <a:ext cx="1524866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7E06579-6A2D-4590-83D4-96C8237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440" y="3609975"/>
            <a:ext cx="1429616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40.9%↓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316E59A-8993-49B2-BE62-A2F96A96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681" y="3581400"/>
            <a:ext cx="1524866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76C9FDA-7891-4ED7-8942-AC16F98B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306" y="3609975"/>
            <a:ext cx="1429616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67.78°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B8CA142-0D72-4327-AE9D-C6DCF205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547" y="3581400"/>
            <a:ext cx="2287299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C482282-E4E7-40A7-801F-3E2EA71D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72" y="3609975"/>
            <a:ext cx="2192049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3.15 / 5.24 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2C8515D-9C05-4DA8-987A-5D748D60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846" y="3581400"/>
            <a:ext cx="3176804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B7FE984-8FFB-4683-8B87-BB631D37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471" y="3609975"/>
            <a:ext cx="3081554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Z축만 ×0.1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5EFD26A-3308-4539-A372-5A874DDD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05275"/>
            <a:ext cx="1016577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536B1D6-1C2B-457E-8096-190519FE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133850"/>
            <a:ext cx="921327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P6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F4B9ECB-CF6A-44D5-8EA9-3297E7A2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77" y="4105275"/>
            <a:ext cx="165193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CF7B585-D6C6-49FF-B864-70B5F7EF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502" y="4133850"/>
            <a:ext cx="155668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13.38°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8085E8C-1EFD-44CE-BAC7-D99C0E59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15" y="4105275"/>
            <a:ext cx="1524866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2AF67E3-E684-471F-8A5C-640203FE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440" y="4133850"/>
            <a:ext cx="1429616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74.3%↓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065D2AB-2339-4475-8F69-74069D1B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681" y="4105275"/>
            <a:ext cx="1524866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EE6ECDF-35CC-446C-AA32-43A4854B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306" y="4133850"/>
            <a:ext cx="1429616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34.60°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D7101A3-0F90-40E3-9ACC-3E650B40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547" y="4105275"/>
            <a:ext cx="2287299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E7B6F71-7634-4552-BABC-5027F111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72" y="4133850"/>
            <a:ext cx="2192049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4.01 / 4.29 m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D172FFC-751F-49A8-BAEB-1E9CECCE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846" y="4105275"/>
            <a:ext cx="3176804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ED2A2C6-8C24-4E22-A1B2-288EEF89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471" y="4133850"/>
            <a:ext cx="3081554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Z축만 ×0.01 · 최저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6540AF0-5C7C-47D5-8162-13CEF465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584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26F5288-957D-4873-A230-82D43EC3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8C7B3BD-ECB6-499B-BFD1-517DCADE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24500"/>
            <a:ext cx="986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913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Yaw 개선은 ‘전체 gyro bias’가 아니라 Z축 bias의 초기 불확실성을 낮춘 효과가 지배적이었다. 단, North RMSE는 3.02→4.01 m로 악화됐다.</a:t>
            </a:r>
          </a:p>
        </p:txBody>
      </p:sp>
    </p:spTree>
    <p:extLst>
      <p:ext uri="{BB962C8B-B14F-4D97-AF65-F5344CB8AC3E}">
        <p14:creationId xmlns:p14="http://schemas.microsoft.com/office/powerpoint/2010/main" val="194090288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E9B8A2-6282-4DEF-ACC8-269688E4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 Case 7~8: Yaw 상태 P 자체는 영향이 작았다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DCA52-B922-4FF1-8355-D9E43CB4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 · P 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A10C8-157A-4D19-8E33-8BE8688C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CFBF9-CBB6-4985-B437-713CB870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B31B4-362F-4C47-80C8-775A09E0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95400"/>
            <a:ext cx="763905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0bfa4ab6c4e45"/>
          <a:stretch xmlns:a="http://schemas.openxmlformats.org/drawingml/2006/main"/>
        </p:blipFill>
        <p:spPr>
          <a:xfrm xmlns:a="http://schemas.openxmlformats.org/drawingml/2006/main">
            <a:off x="737410" y="1352550"/>
            <a:ext cx="7154831" cy="4705350"/>
          </a:xfrm>
          <a:prstGeom xmlns:a="http://schemas.openxmlformats.org/drawingml/2006/main" prst="roundRect">
            <a:avLst>
              <a:gd name="adj" fmla="val 20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3DA3D-78B9-4041-867A-10A80C8E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30289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8B68E-F532-4A5A-B1E0-E4F04CE0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4A"/>
          </a:solidFill>
          <a:ln xmlns:a="http://schemas.openxmlformats.org/drawingml/2006/main" w="0">
            <a:solidFill>
              <a:srgbClr val="D84A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300A4-4E87-49E7-B788-6CF6D691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2880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53.71°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3FB0B-4BF3-4E51-82FF-CCE370EC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765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P7 · Pψ ×0.1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FEAE9-DA90-4836-84E2-EEB75FBF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기본보다 +1.66°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DB9FC-189E-4825-9141-56A744ED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30289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497A2-BC77-4F78-B56A-C9C77EF8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A16A"/>
          </a:solidFill>
          <a:ln xmlns:a="http://schemas.openxmlformats.org/drawingml/2006/main" w="0">
            <a:solidFill>
              <a:srgbClr val="3DA1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F6A83-236E-4C4A-96BC-1DBD6540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1480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50.90°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EBA6A-C1B1-4107-9207-F0E8783B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625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P8 · Pψ ×10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78660-1C03-44FD-933D-464462FF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959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기본보다 −1.16°</a:t>
            </a:r>
          </a:p>
        </p:txBody>
      </p:sp>
    </p:spTree>
    <p:extLst>
      <p:ext uri="{BB962C8B-B14F-4D97-AF65-F5344CB8AC3E}">
        <p14:creationId xmlns:p14="http://schemas.microsoft.com/office/powerpoint/2010/main" val="110515438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852D9-609D-477A-9437-B93D2500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 튜닝 결론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75B71-8CA9-4417-B131-0041A170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 · P 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5FA23-1ED4-4A1A-A23F-B98A7654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4EA21-8425-413B-9E6B-1B52B10E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EA709-13AC-4283-AC3D-C7F84BDA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66FA8-8FD8-4301-BB26-A77A228A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98089-770B-4DD8-897F-D7726FA7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89F7A-3A01-4C45-8869-926CAD8C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가장 의미 있는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486F7-DE7C-4A72-BF6D-B1F2C2D8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9718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P(15,15) ×0.01</a:t>
            </a:r>
          </a:p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Yaw 13.38°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A76CA-A4ED-4F92-B3EF-EB539C45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383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FF31A-D128-4D14-9BA0-52CACFC8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383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A16A"/>
          </a:solidFill>
          <a:ln xmlns:a="http://schemas.openxmlformats.org/drawingml/2006/main" w="0">
            <a:solidFill>
              <a:srgbClr val="3DA1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B9930-7851-41E9-A602-98706B61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478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74.3%↓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C7E08-CA00-44B8-914B-456084BE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9555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Yaw RMSE 감소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AD061-2852-41A2-B571-AD4C82DE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28950"/>
            <a:ext cx="29718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52.06° → 13.38°</a:t>
            </a:r>
          </a:p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Max 102.31° → 34.60°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34DBD-CB67-447A-A239-44B94F71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383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B5BA5-D9F1-44E7-AD6B-D5915943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383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solidFill>
              <a:srgbClr val="FF741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27ED32-F3D1-4E36-B8DB-6666CF09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478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+0.99 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33B211-CDB6-4C92-994B-DE10FD79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9555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North RMSE trade-off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E88119-7EDA-48AF-92E5-AE0F92C7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28950"/>
            <a:ext cx="29718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3.02 m → 4.01 m</a:t>
            </a:r>
          </a:p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단일 지표 최적화 주의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244A5-8DAC-4F24-99C4-72849D78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2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P는 원인을 찾는 데 효과적이었지만, 운용 중 모델 신뢰도를 조절하는 Q 실험이 더 직접적인 개선을 보였다.</a:t>
            </a:r>
          </a:p>
        </p:txBody>
      </p:sp>
    </p:spTree>
    <p:extLst>
      <p:ext uri="{BB962C8B-B14F-4D97-AF65-F5344CB8AC3E}">
        <p14:creationId xmlns:p14="http://schemas.microsoft.com/office/powerpoint/2010/main" val="44891579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DAFBE-91A8-4003-9DD7-4E0C6785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 행렬: [x,x,x,x,x,x]의 정확한 의미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99DCB-2BB9-4F07-9108-421D5072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 · Q 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BBADB-951B-4BFA-83E3-648C0610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ACEDC-0261-4A47-A1AA-CFADF129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61281-6C65-4567-AE7E-12AA7CBC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qσ = [ σₐₓ  σₐᵧ  σₐ𝓏  σɢₓ  σɢᵧ  σɢ𝓏 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2EBFC-B5A7-4673-B41F-C34F8EBB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39F8D-98C4-4CE3-A823-BAF56610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숫자 벡터로 쓰는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30C70-6FE8-4EB0-B69E-53096E6B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46101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q_sigma = [0.1, 0.1, 0.1, ...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           0.01*pi/180, ...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           0.01*pi/180, ...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           0.01*pi/180];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Q = diag(q_sigma.^2);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A68F3-4ECA-4B25-9DC8-2BDD1E03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3840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EECFB-9461-4365-BC3E-4B909A13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현재 코드의 block matrix 방식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46B84-9F73-4135-B1C7-C1F7C8C6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76550"/>
            <a:ext cx="46101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Nav.LC.Q(1:3,1:3) = ...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    (0.1^2)*eye(3);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Nav.LC.Q(4:6,4:6) = ...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    (0.01*pi/180)^2*eye(3);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5022E-1C05-40BC-9A8F-1A432B30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3880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두 표현은 동일하다. 차이는 ‘한 줄 벡터냐 block 대입이냐’뿐이며, Q에 들어가는 값은 표준편차의 제곱이다.</a:t>
            </a:r>
          </a:p>
        </p:txBody>
      </p:sp>
    </p:spTree>
    <p:extLst>
      <p:ext uri="{BB962C8B-B14F-4D97-AF65-F5344CB8AC3E}">
        <p14:creationId xmlns:p14="http://schemas.microsoft.com/office/powerpoint/2010/main" val="73833188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1563628-9753-4640-9F40-69AA1DD4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 실험 설계: 8개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130F0-BE49-4A57-82EE-4B611F3E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 · Q 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5D1A6-F524-419A-9142-01BCE81E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66F4E-9D81-475D-9CD6-74A56C82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B2B0C-8543-444D-B309-2C7D0541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14450"/>
            <a:ext cx="105136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00C7E-16B4-48EF-8C97-AA6B0BE8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343025"/>
            <a:ext cx="956117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6525C-D533-4034-B461-6711AED0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667" y="1314450"/>
            <a:ext cx="328552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1898A-DF6E-4645-BC37-0DA936FF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292" y="1343025"/>
            <a:ext cx="319027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변경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ECA36-CDD9-478A-A2CF-09FB86E9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189" y="1314450"/>
            <a:ext cx="604536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6A9A3-3FC4-4064-A5BB-773E3235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814" y="1343025"/>
            <a:ext cx="5950111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확인 대상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54EAF-ABB9-4989-8944-E497F1E8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28800"/>
            <a:ext cx="105136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37571-BB99-495A-8262-E4980F6E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857375"/>
            <a:ext cx="956117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36329-F353-4226-B8B3-8D19EF74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667" y="1828800"/>
            <a:ext cx="328552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A213C-B385-4039-8667-107A3091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292" y="1857375"/>
            <a:ext cx="319027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 전체 ×10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6BA37-703F-4235-8281-5932978B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189" y="1828800"/>
            <a:ext cx="604536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E958AD-F569-4728-8F1E-CEE7F446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814" y="1857375"/>
            <a:ext cx="5950111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모델 불확실성 전체 증가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1C175-8FE8-4255-94C5-36FAF8E5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05136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3F5DF-7E27-4C9D-9616-CFC569E0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71725"/>
            <a:ext cx="956117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12E9F-E38A-4F5F-B167-8984044D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667" y="2343150"/>
            <a:ext cx="328552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6B47B3-FE5E-4905-8C0E-5AFF00BD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292" y="2371725"/>
            <a:ext cx="319027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 전체 ×0.1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6A3A04-CBE4-47E1-8930-6EAA9E31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189" y="2343150"/>
            <a:ext cx="604536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90EE67-B81D-4E9F-9399-123CD6C4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814" y="2371725"/>
            <a:ext cx="5950111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IMU 전파 모델 전체 신뢰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64E4CD-18DC-43D4-BB4F-23123B6B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05136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52246D-7883-4282-98BE-18293EB4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86075"/>
            <a:ext cx="956117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73131F-671E-47DE-B3BF-B73D57DC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667" y="2857500"/>
            <a:ext cx="328552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1F8253-4F90-4879-B1FD-45C17332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292" y="2886075"/>
            <a:ext cx="319027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Qacc(1:3) ×10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8F7FF1-6FEB-492C-B776-AF151DD6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189" y="2857500"/>
            <a:ext cx="604536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78EE1E-BF04-4FF5-AA8C-28E9CB43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814" y="2886075"/>
            <a:ext cx="5950111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위치·속도 반응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5B5BBD-7B8D-4D70-9C14-FCBC3044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05136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B0F47B-304E-4CAE-8913-1CBDA7EB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00425"/>
            <a:ext cx="956117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DADBFB-68B7-4656-BDAD-ECBA8A8E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667" y="3371850"/>
            <a:ext cx="328552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0E7BA8-E0C6-459A-8A4E-36CDAD80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292" y="3400425"/>
            <a:ext cx="319027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Qacc(1:3) ×0.1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FEC1B7-9E32-4F2B-BC72-1FB79BE6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189" y="3371850"/>
            <a:ext cx="604536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07CE70-7D07-4E85-9C68-1D9C8D1A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814" y="3400425"/>
            <a:ext cx="5950111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위치·속도 반응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41222D-AAF7-4D9A-B614-36395A83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105136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1C528C-1B06-44E1-89E8-D07D5B8B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914775"/>
            <a:ext cx="956117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7C343D-CC75-416A-9F58-C4BC8AAB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667" y="3886200"/>
            <a:ext cx="328552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F23C49-9366-48E1-9E26-1609AB9F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292" y="3914775"/>
            <a:ext cx="319027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Qgyro(4:6) ×10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C8B43F-9CA2-4BFD-B276-32039142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189" y="3886200"/>
            <a:ext cx="604536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7F2333-FC5B-486D-9EE1-E46E8A33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814" y="3914775"/>
            <a:ext cx="5950111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Roll/Pitch/Yaw 반응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BB0097-CDCD-4E02-9618-07BF8201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105136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5D3570-FBF5-47EB-A832-2906D49A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429125"/>
            <a:ext cx="956117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77627F-BECB-4A02-9A3E-5FCE337F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667" y="4400550"/>
            <a:ext cx="328552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7448DB-9B84-42EF-B672-2A58AAB0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292" y="4429125"/>
            <a:ext cx="319027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Qgyro(4:6) ×0.1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34868B-835F-4048-B696-AE955C99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189" y="4400550"/>
            <a:ext cx="604536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7CBFB9-42ED-41E3-A6E4-6DC98F5F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814" y="4429125"/>
            <a:ext cx="5950111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Roll/Pitch/Yaw 반응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3243C5-A8E1-4A72-960F-CDFA3FAE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105136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FC30AA-953D-4EF6-BFA7-0BB960A0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943475"/>
            <a:ext cx="956117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E34E67-81B2-407C-92A2-83F17478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667" y="4914900"/>
            <a:ext cx="328552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A7E8BF6-ACCE-4366-AC47-959CF092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292" y="4943475"/>
            <a:ext cx="319027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Q(3,3) ×10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B66C8B-7AF6-49E8-AD5D-B13FBF1A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189" y="4914900"/>
            <a:ext cx="604536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AA0C28-FFA6-41F6-BBC9-9BDE2283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814" y="4943475"/>
            <a:ext cx="5950111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Down 축 가속도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4EDB671-2E5A-4309-A92A-6808C7B2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5136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CA21AE-8C08-4115-A9C2-279EFEC8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457825"/>
            <a:ext cx="956117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C45BF1E-8B17-4C5D-BAD5-56FD0107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667" y="5429250"/>
            <a:ext cx="328552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2E085A-2637-4596-BC40-70569EAB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292" y="5457825"/>
            <a:ext cx="319027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Q(6,6) ×10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C7E96F-DC9B-45C5-95E1-FEFF0C2E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189" y="5429250"/>
            <a:ext cx="604536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E90EF1-86F6-490F-A9DE-F14F3CC8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814" y="5457825"/>
            <a:ext cx="5950111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Yaw 축 자이로</a:t>
            </a:r>
          </a:p>
        </p:txBody>
      </p:sp>
    </p:spTree>
    <p:extLst>
      <p:ext uri="{BB962C8B-B14F-4D97-AF65-F5344CB8AC3E}">
        <p14:creationId xmlns:p14="http://schemas.microsoft.com/office/powerpoint/2010/main" val="189904526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96BF83-5AC3-4F65-A4E4-57A61FF4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 Case 1~2: 전체 Q는 필터 신뢰 균형을 크게 바꿨다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17448-34CB-4E67-9327-549E1DE1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 · Q 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18C70-1C08-4AFD-85AB-729F6284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D5FC3-4E5A-437C-BDD0-3BD4736E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A9EBF-A651-4A6E-8099-DDF63F48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32385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7C2EA-0473-4522-9096-CBA84538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76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A16A"/>
          </a:solidFill>
          <a:ln xmlns:a="http://schemas.openxmlformats.org/drawingml/2006/main" w="0">
            <a:solidFill>
              <a:srgbClr val="3DA1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6AF9C-60D4-466C-8873-F76848D7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19.46°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E8DA8-3BE5-42B4-A114-1DE31410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Q1 · Q 전체 ×10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543E0-F4EB-497F-A1AE-B913C3F2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Yaw 개선 · 수평 위치도 개선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E49C0-14BD-4F25-A8CD-70829AE4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43350"/>
            <a:ext cx="32385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32200-375E-49E6-A1D9-DFCDFD37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43350"/>
            <a:ext cx="76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4A"/>
          </a:solidFill>
          <a:ln xmlns:a="http://schemas.openxmlformats.org/drawingml/2006/main" w="0">
            <a:solidFill>
              <a:srgbClr val="D84A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B25BD-4E53-48AE-AC08-3CBCC4B0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64.07°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E84F9-C234-4065-A840-DEEC8B76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Q2 · Q 전체 ×0.1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E7EC3-8CB3-4193-AA27-568F4EC1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위치·속도·Yaw 모두 악화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FA3278-EFB6-4FC0-8AEB-9B37841A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14450"/>
            <a:ext cx="744855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a6e64f12d4746"/>
          <a:stretch xmlns:a="http://schemas.openxmlformats.org/drawingml/2006/main"/>
        </p:blipFill>
        <p:spPr>
          <a:xfrm xmlns:a="http://schemas.openxmlformats.org/drawingml/2006/main">
            <a:off x="4152900" y="1454373"/>
            <a:ext cx="7334250" cy="4577905"/>
          </a:xfrm>
          <a:prstGeom xmlns:a="http://schemas.openxmlformats.org/drawingml/2006/main" prst="roundRect">
            <a:avLst>
              <a:gd name="adj" fmla="val 2008"/>
            </a:avLst>
          </a:prstGeom>
        </p:spPr>
      </p:pic>
    </p:spTree>
    <p:extLst>
      <p:ext uri="{BB962C8B-B14F-4D97-AF65-F5344CB8AC3E}">
        <p14:creationId xmlns:p14="http://schemas.microsoft.com/office/powerpoint/2010/main" val="7007582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32831-FB54-40C8-AE26-AE32DB4C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 Case 3~4: 위치·속도는 변했는가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9D0D7-E7E6-4C5B-AC9D-A1E9E31C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 · Q 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AFA3E-8D28-4FA9-BAAD-4F23AA55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2078E-0323-4B4C-96A4-DE0A5ABD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A4838-3462-45E0-B5F6-0B09A795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8001000" cy="5010150"/>
          </a:xfrm>
          <a:prstGeom xmlns:a="http://schemas.openxmlformats.org/drawingml/2006/main" prst="roundRect">
            <a:avLst>
              <a:gd name="adj" fmla="val 1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8b2e0697e48d3"/>
          <a:stretch xmlns:a="http://schemas.openxmlformats.org/drawingml/2006/main"/>
        </p:blipFill>
        <p:spPr>
          <a:xfrm xmlns:a="http://schemas.openxmlformats.org/drawingml/2006/main">
            <a:off x="720187" y="1314450"/>
            <a:ext cx="7551226" cy="4895850"/>
          </a:xfrm>
          <a:prstGeom xmlns:a="http://schemas.openxmlformats.org/drawingml/2006/main" prst="roundRect">
            <a:avLst>
              <a:gd name="adj" fmla="val 194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840A2-0673-4164-8E6B-5612C839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352550"/>
            <a:ext cx="2781300" cy="47053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8C263-CBE2-4445-BEF2-A97B3C88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764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Q3 · acc ×10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AC6BE-9E30-4F1D-AE1C-7FBA2A8D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52650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31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Pos N 3.02→1.53 m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1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Pos E 5.61→2.33 m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1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Vel E 1.00→0.58 m/s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1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Down은 거의 동일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91854-D97C-4EF9-A46E-83D0FCBA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81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Q4 · acc ×0.1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31751-A465-4D4A-9C59-719D2E02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577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31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Pos N/E/D 모두 악화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1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Vel N·D 악화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31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Yaw는 31.15°로 감소</a:t>
            </a:r>
          </a:p>
        </p:txBody>
      </p:sp>
    </p:spTree>
    <p:extLst>
      <p:ext uri="{BB962C8B-B14F-4D97-AF65-F5344CB8AC3E}">
        <p14:creationId xmlns:p14="http://schemas.microsoft.com/office/powerpoint/2010/main" val="5836400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2D5919-4CF2-4F22-A2FA-0572614F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 Case 5~6: Roll/Pitch/Yaw는 변했는가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7D368-4BE6-4D55-96E9-F1AE9087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 · Q 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6E091-6628-4C64-8813-AE9AB4CD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1948C-65F0-49AE-8AE1-D0451578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0C2F2-50E4-4262-BDB2-FEFA03A3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8077200" cy="5010150"/>
          </a:xfrm>
          <a:prstGeom xmlns:a="http://schemas.openxmlformats.org/drawingml/2006/main" prst="roundRect">
            <a:avLst>
              <a:gd name="adj" fmla="val 1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6ae3d2ed14826"/>
          <a:stretch xmlns:a="http://schemas.openxmlformats.org/drawingml/2006/main"/>
        </p:blipFill>
        <p:spPr>
          <a:xfrm xmlns:a="http://schemas.openxmlformats.org/drawingml/2006/main">
            <a:off x="756929" y="1314450"/>
            <a:ext cx="7553943" cy="4895850"/>
          </a:xfrm>
          <a:prstGeom xmlns:a="http://schemas.openxmlformats.org/drawingml/2006/main" prst="roundRect">
            <a:avLst>
              <a:gd name="adj" fmla="val 194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E5D73-0174-40B1-9B70-E36518D1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315FA-EF77-46D6-BD27-903F246A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A16A"/>
          </a:solidFill>
          <a:ln xmlns:a="http://schemas.openxmlformats.org/drawingml/2006/main" w="0">
            <a:solidFill>
              <a:srgbClr val="3DA1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9A7A3-8E94-4D37-9753-BDE05728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9.04°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7A067-775F-46A0-A7EB-49FEFB27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6220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Q5 · gyro ×10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A365E-23DF-4B95-BC99-1219BC15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Yaw 82.6% 감소</a:t>
            </a:r>
          </a:p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Roll 0.21° · Pitch 0.23°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D115C-5B50-489C-B5A4-741E441C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48100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62E01-34E9-415B-A2C2-BCB39FCB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481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4A"/>
          </a:solidFill>
          <a:ln xmlns:a="http://schemas.openxmlformats.org/drawingml/2006/main" w="0">
            <a:solidFill>
              <a:srgbClr val="D84A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0EC4C-95B1-45D7-842C-F72C9DBD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88.89°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2BE9A-06B2-4740-BA7A-78F4A127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0535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Q6 · gyro ×0.1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9BE7C-CAB1-44DC-87A1-D9547DC9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3875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Yaw Max ≈180°</a:t>
            </a:r>
          </a:p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Roll/Pitch도 악화</a:t>
            </a:r>
          </a:p>
        </p:txBody>
      </p:sp>
    </p:spTree>
    <p:extLst>
      <p:ext uri="{BB962C8B-B14F-4D97-AF65-F5344CB8AC3E}">
        <p14:creationId xmlns:p14="http://schemas.microsoft.com/office/powerpoint/2010/main" val="213512291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5F7E5-0C00-4B3F-9C84-CF7EF184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 Case 7: Z 가속도 Q ×10은 Down을 개선했는가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E752C-8568-4434-A397-49D51B34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 · Q 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D4CDD-58E5-480B-8FFB-B9E98163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D5AB3-482D-4C22-AAD2-5172B52A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86C7E-B0BA-481E-8126-4EB9D04B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8096250" cy="5010150"/>
          </a:xfrm>
          <a:prstGeom xmlns:a="http://schemas.openxmlformats.org/drawingml/2006/main" prst="roundRect">
            <a:avLst>
              <a:gd name="adj" fmla="val 1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f072e6a3b47e3"/>
          <a:stretch xmlns:a="http://schemas.openxmlformats.org/drawingml/2006/main"/>
        </p:blipFill>
        <p:spPr>
          <a:xfrm xmlns:a="http://schemas.openxmlformats.org/drawingml/2006/main">
            <a:off x="870782" y="1314450"/>
            <a:ext cx="7345287" cy="4895850"/>
          </a:xfrm>
          <a:prstGeom xmlns:a="http://schemas.openxmlformats.org/drawingml/2006/main" prst="roundRect">
            <a:avLst>
              <a:gd name="adj" fmla="val 194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3F623-92A9-4E38-8DFA-7B17DBF2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6670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98A07-34E0-4142-AC77-4DD4691A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4A"/>
          </a:solidFill>
          <a:ln xmlns:a="http://schemas.openxmlformats.org/drawingml/2006/main" w="0">
            <a:solidFill>
              <a:srgbClr val="D84A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7D4A5-4576-4AFF-B856-79C2EB1A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6690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643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1.576 → 1.621 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233A0-69F7-4D5A-AE12-60E00F7B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1460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Down position RMSE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7FA7C-6EFA-4BF8-92D3-6414814A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480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+2.9% · 개선 아님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586D6-18F7-46DC-9ECD-D8FE9FBC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86200"/>
            <a:ext cx="26670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80F13-6756-4A60-9A07-61979DAC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862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solidFill>
              <a:srgbClr val="FF741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AE136-7E8F-4DA5-A101-FA263BF7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9575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343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0.067 → 0.077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84D8C-D7FC-4B4F-8F6B-B4CAEEED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4345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Down velocity RMSE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B3F7E2-BBBC-4E7B-9AAA-2F96B237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7685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+14.4% · 악화</a:t>
            </a:r>
          </a:p>
        </p:txBody>
      </p:sp>
    </p:spTree>
    <p:extLst>
      <p:ext uri="{BB962C8B-B14F-4D97-AF65-F5344CB8AC3E}">
        <p14:creationId xmlns:p14="http://schemas.microsoft.com/office/powerpoint/2010/main" val="7923115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BB3543-D130-400D-9EED-00E51FCE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 Case 8: Z 자이로 Q ×10은 Yaw를 개선했는가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31AF5-FA47-4115-AA1C-9E758D1F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 · Q 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60CE6-318B-455D-A1E9-3FD1A46F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62F6F-F4BF-4F03-9D50-922BE4BF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E1E00-2400-4B63-BEF6-DC8D42F1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8096250" cy="5010150"/>
          </a:xfrm>
          <a:prstGeom xmlns:a="http://schemas.openxmlformats.org/drawingml/2006/main" prst="roundRect">
            <a:avLst>
              <a:gd name="adj" fmla="val 1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e0ffe11624db9"/>
          <a:stretch xmlns:a="http://schemas.openxmlformats.org/drawingml/2006/main"/>
        </p:blipFill>
        <p:spPr>
          <a:xfrm xmlns:a="http://schemas.openxmlformats.org/drawingml/2006/main">
            <a:off x="845078" y="1314450"/>
            <a:ext cx="7396695" cy="4895850"/>
          </a:xfrm>
          <a:prstGeom xmlns:a="http://schemas.openxmlformats.org/drawingml/2006/main" prst="roundRect">
            <a:avLst>
              <a:gd name="adj" fmla="val 194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85D5A-095C-4E1B-B6EA-71892C6E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6670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74B4D-76B3-4E2A-822F-48E11CE9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76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0">
            <a:solidFill>
              <a:srgbClr val="214E9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1E5A6-2A00-48E9-8E8E-5EAF1198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6690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52.057°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0F134-A4E4-483C-AF02-8D5A3B62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1460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기본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2DF5C-797A-4151-A211-231DA542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4800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K 제한 없음 · 고정 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D29E56-10FB-4329-BBC7-40B65CF7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26670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F637A-7CC1-4DC4-9CE8-779781FF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76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8D8D"/>
          </a:solidFill>
          <a:ln xmlns:a="http://schemas.openxmlformats.org/drawingml/2006/main" w="0">
            <a:solidFill>
              <a:srgbClr val="8D8D8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0A338-8DB0-46E1-8132-E980AF5F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1480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8D8D8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8D8D8D"/>
                </a:solidFill>
                <a:latin typeface="Malgun Gothic"/>
                <a:ea typeface="Malgun Gothic"/>
                <a:cs typeface="Malgun Gothic"/>
              </a:rPr>
              <a:t>51.969°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BB266-93B3-4FA2-8B9B-8054B514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Q8 · gyro_z ×10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253D1-A651-46E7-ADD4-9553EEB1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9590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−0.17% · 사실상 동일</a:t>
            </a:r>
          </a:p>
        </p:txBody>
      </p:sp>
    </p:spTree>
    <p:extLst>
      <p:ext uri="{BB962C8B-B14F-4D97-AF65-F5344CB8AC3E}">
        <p14:creationId xmlns:p14="http://schemas.microsoft.com/office/powerpoint/2010/main" val="169244959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D0FBB4-E606-4D31-94E8-232CD9EB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 튜닝 결론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E1262-C0B6-4427-8E9F-623E969E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 · Q 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823AE-8B76-47EB-8F36-DE852BF0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DA721-B442-4A79-85CD-83848ECB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12F6C-9E93-4FEB-90E7-DFAE1028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B3647-1C8A-4519-ABA7-12EB03D3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A16A"/>
          </a:solidFill>
          <a:ln xmlns:a="http://schemas.openxmlformats.org/drawingml/2006/main" w="0">
            <a:solidFill>
              <a:srgbClr val="3DA1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5BB7A-089F-4379-BC75-2AAE90F9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Q5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3C286-A51F-4541-8521-F6D4BDF0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가장 균형적인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53A08-F31C-43A8-8499-12B7D884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9718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gyro x/y/z 전체 ×10</a:t>
            </a:r>
          </a:p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Pos·Vel·Att 모두 개선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2F21F-8F0C-4314-B013-F5463760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383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3C78C-F015-44D6-9E72-6DCBD58C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383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593B8-05AF-45B3-BEA4-251E1A90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478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9.04°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88FDD-4A25-4760-AC55-7DFE3D30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9555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Yaw RMSE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B6D48-E754-46F5-B0AF-1D039697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28950"/>
            <a:ext cx="29718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52.06°에서 82.6% 감소</a:t>
            </a:r>
          </a:p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Roll 0.21° · Pitch 0.23°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8ECF3-9C4D-4610-A229-2BAC5F4F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383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CDE454-1D12-48EF-978A-FB760AC3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383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solidFill>
              <a:srgbClr val="FF741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B6BA5-336E-4159-A2A8-6973AC74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478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Q8 ≈ 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9FA2A2-8A56-44AA-BC19-3C2E77D5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9555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축 하나만 변경한 한계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3E144-0188-4B2E-ABE3-A325978C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28950"/>
            <a:ext cx="29718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Z gyro ×10은 영향 미미</a:t>
            </a:r>
          </a:p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전체 gyro 블록이 중요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C3B154-941C-45A6-AE31-F0BCF365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14E9C"/>
                </a:solidFill>
                <a:latin typeface="Malgun Gothic"/>
                <a:ea typeface="Malgun Gothic"/>
                <a:cs typeface="Malgun Gothic"/>
              </a:rPr>
              <a:t>다음 조합 후보: Q5 + Adaptive R + K(15,:)=0 — 아직 미실행이므로 ‘최종 최적값’으로 주장하지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39907107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82FF0D-76A0-4C89-9028-D47E4CAA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위치 궤적이 꺾인 이유: GNSS 자체의 순간 이탈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15466-CBF7-45BC-AB97-EC706FC9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06 · R &amp; ROBUSTNESS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EA803-5E88-4559-8B15-E729E7C5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39993-B2D7-4598-94B4-528BCA47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2BDEE-A79D-48EB-9FF4-CF7A0A66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8096250" cy="5105400"/>
          </a:xfrm>
          <a:prstGeom xmlns:a="http://schemas.openxmlformats.org/drawingml/2006/main" prst="roundRect">
            <a:avLst>
              <a:gd name="adj" fmla="val 14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479655db5488f"/>
          <a:stretch xmlns:a="http://schemas.openxmlformats.org/drawingml/2006/main"/>
        </p:blipFill>
        <p:spPr>
          <a:xfrm xmlns:a="http://schemas.openxmlformats.org/drawingml/2006/main">
            <a:off x="887188" y="1276350"/>
            <a:ext cx="7312474" cy="4991100"/>
          </a:xfrm>
          <a:prstGeom xmlns:a="http://schemas.openxmlformats.org/drawingml/2006/main" prst="roundRect">
            <a:avLst>
              <a:gd name="adj" fmla="val 190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6A13E-1E51-4DD0-A630-8EB8006E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6670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861D3-E05D-4B32-A976-F786489D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762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4A"/>
          </a:solidFill>
          <a:ln xmlns:a="http://schemas.openxmlformats.org/drawingml/2006/main" w="0">
            <a:solidFill>
              <a:srgbClr val="D84A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36C18-BBBE-4DC1-8520-E4872A7B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3830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18.27 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D552D-858F-4C81-A9CB-DF783750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8600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수평 GNSS 오차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74E04-0D37-4D91-88F4-EF204230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194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정렬 후 183.3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EDB98-1F39-4D48-9A46-377DC7C4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6670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8EB81-2786-475A-A26C-99E0AFE5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762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solidFill>
              <a:srgbClr val="FF741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93D1E-A4A7-4714-9E85-A2F8BA68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3855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E −17.53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82E8B-5F6F-49E2-BE0F-BEE05A4D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8625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오차 방향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EEE0B8-27A9-459B-A384-F2E29529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196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4444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N −5.17 m</a:t>
            </a:r>
          </a:p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Down −25.70 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69AC55-2E28-4DB0-9A78-93D0382B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911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gpsPosU도 최대 약 10.6 / 17.1 m로 커지고 위성 수는 7~10개까지 감소</a:t>
            </a:r>
          </a:p>
        </p:txBody>
      </p:sp>
    </p:spTree>
    <p:extLst>
      <p:ext uri="{BB962C8B-B14F-4D97-AF65-F5344CB8AC3E}">
        <p14:creationId xmlns:p14="http://schemas.microsoft.com/office/powerpoint/2010/main" val="53575099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A300B-A63A-4BA5-B20B-757A82F1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Adaptive R: 공분산은 어디서 왔는가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A8FAF-5350-435B-B5D6-1806EDBF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06 · R &amp; ROBUSTNESS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335BB-69D7-49A3-A5B0-28C07F8E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AA4DC-6B36-4208-912B-595D9AED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7D10C-6C7C-410B-B153-26EC77C3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Rₚₒₛ(k) = diag( max( [3²,3²,5²],  gpsPosU(k)² ) 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E683A-269C-4FEF-8845-2702FDE5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6191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66E34-19B2-4F6F-BA92-2966D4BE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81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현재 적용 코드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35E37-7D32-459A-94B3-826E4842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58483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R_GPS = Nav.LC.R_GPS;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pos_sigma = double(gps.gpsPosU(gps_i,:)).';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pos_var_default  = diag(R_GPS(1:3,1:3));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pos_var_reported = pos_sigma.^2;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R_GPS(1:3,1:3) = diag( ...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    max(pos_var_default, pos_var_reported));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DB43A-8B15-4382-B189-5012E0C3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44958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5D3B6-F6D0-440F-B169-8A21BE01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86050"/>
            <a:ext cx="3810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gpsPosU는 수신기가 보고한 위치 표준편차 σ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공분산 R에는 σ²를 넣음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기본 분산보다 작게 내려가지 않음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GNSS 품질이 나쁠 때만 R 증가 → K 감소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• 현재는 position 3축에만 적용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B6BB9-6C33-4DD3-B688-8489C556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‘그냥 숫자 대입’과 공분산은 반대 개념이 아니다. diag([...])로 숫자를 넣는 순간 그 행렬이 R이다.</a:t>
            </a:r>
          </a:p>
        </p:txBody>
      </p:sp>
    </p:spTree>
    <p:extLst>
      <p:ext uri="{BB962C8B-B14F-4D97-AF65-F5344CB8AC3E}">
        <p14:creationId xmlns:p14="http://schemas.microsoft.com/office/powerpoint/2010/main" val="172996719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5CAB0-75C9-4770-BDEF-E10036E3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Adaptive R만으로는 Yaw 52° 문제가 해결되지 않았다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96BDE-A75A-478A-AA78-B73EC6F0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06 · R &amp; ROBUSTNESS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7ABF4-CECA-4AA3-B700-C27AD6EF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04614-57CE-4F11-BA40-F1965545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C51A6-F0C3-4594-AEC1-697C5B28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33337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95B19-5B88-4368-A10E-2CA8A7B3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A16A"/>
          </a:solidFill>
          <a:ln xmlns:a="http://schemas.openxmlformats.org/drawingml/2006/main" w="0">
            <a:solidFill>
              <a:srgbClr val="3DA1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81D4B-FFC0-46F3-A00B-8AD4A816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756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3DA16A"/>
                </a:solidFill>
                <a:latin typeface="Malgun Gothic"/>
                <a:ea typeface="Malgun Gothic"/>
                <a:cs typeface="Malgun Gothic"/>
              </a:rPr>
              <a:t>Down 1.58 → 0.60 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580A4-17E2-47BA-B4A2-0447CA36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위치 측정 이상 완화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AEE29-5099-41AA-84F0-F111968C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Max 8.44 → 2.17 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24424-99AA-488B-9D55-6FD7817C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33337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F4318-7766-4F89-BA32-689C5B23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8D8D"/>
          </a:solidFill>
          <a:ln xmlns:a="http://schemas.openxmlformats.org/drawingml/2006/main" w="0">
            <a:solidFill>
              <a:srgbClr val="8D8D8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04BC1-A611-49C2-85B8-794FC207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35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8D8D8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8D8D8D"/>
                </a:solidFill>
                <a:latin typeface="Malgun Gothic"/>
                <a:ea typeface="Malgun Gothic"/>
                <a:cs typeface="Malgun Gothic"/>
              </a:rPr>
              <a:t>Yaw 52.06 → 51.74°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DCF65-0BA9-4C7F-AF3B-223C458B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Yaw 변화 거의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C07E1-82BC-400F-8BAF-B2B9C08D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R은 GNSS 품질 문제만 다룸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931EE-1DC1-4A7D-9242-73492805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257300"/>
            <a:ext cx="7372350" cy="5010150"/>
          </a:xfrm>
          <a:prstGeom xmlns:a="http://schemas.openxmlformats.org/drawingml/2006/main" prst="roundRect">
            <a:avLst>
              <a:gd name="adj" fmla="val 1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5faf8f22643c4"/>
          <a:stretch xmlns:a="http://schemas.openxmlformats.org/drawingml/2006/main"/>
        </p:blipFill>
        <p:spPr>
          <a:xfrm xmlns:a="http://schemas.openxmlformats.org/drawingml/2006/main">
            <a:off x="4587493" y="1314450"/>
            <a:ext cx="6541265" cy="4895850"/>
          </a:xfrm>
          <a:prstGeom xmlns:a="http://schemas.openxmlformats.org/drawingml/2006/main" prst="roundRect">
            <a:avLst>
              <a:gd name="adj" fmla="val 1946"/>
            </a:avLst>
          </a:prstGeom>
        </p:spPr>
      </p:pic>
    </p:spTree>
    <p:extLst>
      <p:ext uri="{BB962C8B-B14F-4D97-AF65-F5344CB8AC3E}">
        <p14:creationId xmlns:p14="http://schemas.microsoft.com/office/powerpoint/2010/main" val="15848573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421CCF-E642-47F8-B3D3-3851845B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K(15,:)=0 절충안: 전체 차단보다 좁게 제한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7E585-7890-426C-94B8-C246C6A2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06 · R &amp; ROBUSTNESS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FB5BF-C6F6-4763-96AA-48FDEE2C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AAB7B-7B4C-494B-8C5D-7FCE49F7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79DD8-D18A-42BC-8F97-CB3B184E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8001000" cy="5010150"/>
          </a:xfrm>
          <a:prstGeom xmlns:a="http://schemas.openxmlformats.org/drawingml/2006/main" prst="roundRect">
            <a:avLst>
              <a:gd name="adj" fmla="val 1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99d6a2111424e"/>
          <a:stretch xmlns:a="http://schemas.openxmlformats.org/drawingml/2006/main"/>
        </p:blipFill>
        <p:spPr>
          <a:xfrm xmlns:a="http://schemas.openxmlformats.org/drawingml/2006/main">
            <a:off x="611881" y="1314450"/>
            <a:ext cx="7767837" cy="4895850"/>
          </a:xfrm>
          <a:prstGeom xmlns:a="http://schemas.openxmlformats.org/drawingml/2006/main" prst="roundRect">
            <a:avLst>
              <a:gd name="adj" fmla="val 194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A2E38-DF9F-44AD-BD0D-8A084B0B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47800"/>
            <a:ext cx="2762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B5491-7CBB-42DB-B243-DAC389FB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47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solidFill>
              <a:srgbClr val="FF741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D066E-09FB-49FB-A074-100B0F11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57350"/>
            <a:ext cx="230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13.81°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1AE9A-3BA0-4E46-B2A7-914E2F07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0505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Yaw RMSE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888C5-F54E-4565-B60A-5E62DB64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384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45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제한 없음 51.74°에서 73.3% 감소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7C4BF-586E-4BEC-BB2B-8B250401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57600"/>
            <a:ext cx="2762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48405-3EEA-404C-8270-E9713BAF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576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7C7A4-8A7F-4F44-B1E6-695AE629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67150"/>
            <a:ext cx="230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1264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E 2.48 · D 0.59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19FA9-EE58-40B1-8B94-1CC3B5A7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1485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Position RMSE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E7DA9-FA9C-400E-B606-94D30233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482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North는 3.68 m로 악화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A33FDE-9061-4E47-90F8-8CB52665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7531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882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1">
                <a:solidFill>
                  <a:srgbClr val="D84A4A"/>
                </a:solidFill>
                <a:latin typeface="Malgun Gothic"/>
                <a:ea typeface="Malgun Gothic"/>
                <a:cs typeface="Malgun Gothic"/>
              </a:rPr>
              <a:t>전체 K(13:15)=0은 3.07°로 가장 낮지만, bias 추정 기능 자체를 막는다.</a:t>
            </a:r>
          </a:p>
        </p:txBody>
      </p:sp>
    </p:spTree>
    <p:extLst>
      <p:ext uri="{BB962C8B-B14F-4D97-AF65-F5344CB8AC3E}">
        <p14:creationId xmlns:p14="http://schemas.microsoft.com/office/powerpoint/2010/main" val="16170644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C91765-F68B-4A69-835E-C082A5B8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현재 코드 상태와 판단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38318-ADAE-447D-937F-53DD1B5B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06 · R &amp; ROBUSTNESS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2EA07-137B-48FA-BB7C-534EFBD4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A372B-0A73-45E7-80DB-E0910738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A8924-C760-4F9C-BDF0-7CB6F366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5810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39E38-A38E-40BA-AE60-D632FA50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42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navi_LC_Integ_GPS_correct_direct.m · current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66241-A648-4B8C-9886-B20E9978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46735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R_GPS(1:3,1:3) = diag( ...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    max(pos_var_default, pos_sigma.^2));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K = Nav.LC.P * H' / S;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K(15,:) = 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P = (I-K*H)*P*(I-K*H)' + K*R_GPS*K';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>
                <a:solidFill>
                  <a:srgbClr val="253047"/>
                </a:solidFill>
                <a:latin typeface="Consolas"/>
                <a:ea typeface="Consolas"/>
                <a:cs typeface="Consolas"/>
              </a:defRPr>
            </a:pPr>
            <a:r>
              <a:rPr sz="1163">
                <a:solidFill>
                  <a:srgbClr val="253047"/>
                </a:solidFill>
                <a:latin typeface="Consolas"/>
                <a:ea typeface="Consolas"/>
                <a:cs typeface="Consolas"/>
              </a:rPr>
              <a:t>P = 0.5*(P+P');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CF5B1-55A3-4EF0-9E84-2AFAAD43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38300"/>
            <a:ext cx="1403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5FC3A-B70D-4B32-BB51-54845B83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666875"/>
            <a:ext cx="1308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8CDAE-5597-4569-AC2A-87367895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1638300"/>
            <a:ext cx="345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6EA1F-7998-4135-9D6F-85F1F462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575" y="1666875"/>
            <a:ext cx="335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현재 판단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1234B-E1CA-4356-B300-823BB306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1403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DD4B9-4C1D-44AB-BBBC-E70FE340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219325"/>
            <a:ext cx="1308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Adaptive position 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DEB5B3-1056-4E72-B3C0-A20C9EBD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2190750"/>
            <a:ext cx="345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3616E-6DB4-4A8E-81F5-6D77ACD0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575" y="2219325"/>
            <a:ext cx="335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유지 · GNSS 이상구간에 대응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4D4AF3-7E24-44BC-B027-DBDDA957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43200"/>
            <a:ext cx="1403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B7A17-517B-44A6-91F2-4B0B9136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771775"/>
            <a:ext cx="1308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K(15,:)=0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264DC4-C8B6-4CE6-B9AA-BAE8DBDF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2743200"/>
            <a:ext cx="345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128D7-D1F7-4E91-B957-2A2393C9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575" y="2771775"/>
            <a:ext cx="335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임시 유지 · Z gyro bias 관측성 부족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9A0CE-B08A-424D-AFF2-7AA4EB2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1403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7C60F0-3C81-404B-AE6B-E319B3F3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324225"/>
            <a:ext cx="1308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 대칭화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D74DF7-38B8-4F15-BDE7-B984994D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3295650"/>
            <a:ext cx="345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17A39-195A-4B48-BB2B-6C078038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575" y="3324225"/>
            <a:ext cx="335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유지 · 수치 안정성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4866E8-BC79-4B90-B0A8-50448479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1403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25D5D1-4BE2-48E5-86FC-7BD3E262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876675"/>
            <a:ext cx="1308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Q5 gyro ×10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CEB5CD-7634-4ED8-85BB-9420D5F6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3848100"/>
            <a:ext cx="345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8FF75B-C892-4CA9-8E89-1A3EB733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575" y="3876675"/>
            <a:ext cx="335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유망하지만 현재 조합과 동시 검증 필요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BE3B7A-2DA0-4939-88C2-F2DFEAA3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00550"/>
            <a:ext cx="1403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DEE67B-069D-4388-BEB1-34FE2F27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429125"/>
            <a:ext cx="1308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전체 K(13:15)=0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146CF9-62A9-4473-ADA3-23326263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4400550"/>
            <a:ext cx="345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964ABD-68BC-4EE6-BB49-0996AE14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575" y="4429125"/>
            <a:ext cx="335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비교 기준으로만 보관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F31823-7480-445C-8AF6-D43DD3DD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959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7417"/>
                </a:solidFill>
                <a:latin typeface="Malgun Gothic"/>
                <a:ea typeface="Malgun Gothic"/>
                <a:cs typeface="Malgun Gothic"/>
              </a:rPr>
              <a:t>‘최종 최적값’이 아니라 현재 데이터에서 확인된 가장 설명 가능한 절충안</a:t>
            </a:r>
          </a:p>
        </p:txBody>
      </p:sp>
    </p:spTree>
    <p:extLst>
      <p:ext uri="{BB962C8B-B14F-4D97-AF65-F5344CB8AC3E}">
        <p14:creationId xmlns:p14="http://schemas.microsoft.com/office/powerpoint/2010/main" val="40193668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3DC748-599E-4AD5-B4AA-E0C9D70A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결론과 다음 실험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B2C9F-1A39-426E-AC36-F8238E7B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07 ·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58C1D-2903-4704-95DA-F9997EAD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241D9-24ED-487F-90B5-EE974686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893E6-C36E-4238-BB1B-4288BF1C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B6C13-606C-42B6-ABDE-3FC14429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097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5A388-B331-469D-A876-1AC4AF59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525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Yaw 52°는 GNSS 이상만의 문제가 아니라 bᵍ_z 간접 보정과 관측성 부족의 문제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84126-60BD-4443-931F-4719CEA0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743BE-0389-451A-B79C-1D223295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D7E58-E111-487E-8DE7-387C82BF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0982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CDC22-8E73-4009-8596-C5056E13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5267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P6가 Yaw 13.38°까지 줄였지만 North 위치 trade-off 존재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097CC-4A75-4A8F-BCD0-A4BC6C78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19425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A48D9-FB74-4E57-A09E-D2F36C4C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84C80-345B-457B-AF51-4024851F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3814CA-03C8-4D1E-994D-016EF0D8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528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Q5가 Yaw 9.04°와 위치·속도·Roll/Pitch를 동시에 개선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51CCE-98D0-4CAC-A4E2-102396FE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09CD0-655E-4C22-9403-5C698049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B7CA7D-5F5E-48DB-8CF8-0BDA828C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1007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R/K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0697A7-EE0E-4FC2-8890-35170604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529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Adaptive R은 위치 이상, K(15)=0은 Z gyro bias 문제를 각각 분리 대응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BC963E-9C73-4F6F-8C5A-E3C21DBF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9675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7EC83-81C1-4E10-8664-5EAB4F99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10725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F0F80B-FC33-4463-B431-BD92C9A8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다음 순서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7506AE-C369-4598-9A37-A41A6D19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97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88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① Q5 + Adaptive R + K15 결합 실험 → ② 레버암/고도 기준 검토 → ③ heading 관측 또는 error-state/quaternion 구조 검토</a:t>
            </a:r>
          </a:p>
        </p:txBody>
      </p:sp>
    </p:spTree>
    <p:extLst>
      <p:ext uri="{BB962C8B-B14F-4D97-AF65-F5344CB8AC3E}">
        <p14:creationId xmlns:p14="http://schemas.microsoft.com/office/powerpoint/2010/main" val="45889434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F1ADAA6-FD99-4437-9FD4-E6AE554E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Appendix A · P 전체 RMSE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17443-21BC-4C6D-9237-0DA5CE2B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FBB1C-95EC-4F40-BB4C-023A0C28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D6BE2-4BBC-4FDD-ABA5-03F21A80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550F4-7AB5-4073-A47F-8F2522CA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210279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280F2-4C13-46E4-843A-618CC642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381125"/>
            <a:ext cx="1115029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476E5-B949-473A-AC14-4906E81E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479" y="135255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97D2F-A640-45DB-8237-7C1260B2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104" y="138112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P_N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6BC82-2B86-4E46-996B-D9E4CBA4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733" y="135255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258E5-C992-4B4B-8FC4-2E263F17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358" y="138112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P_E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4B922-E5AC-40D7-8CD9-40DF4ED9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86" y="135255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0D157-1FCC-4059-8CC8-0EBFDC5A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611" y="138112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P_D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3434AA-6610-43A6-A4AA-DDA8989D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135255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48F4B-797D-40B1-8BAF-18A23B50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865" y="138112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V_N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95D53-5969-4B97-8EF6-B6B38669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494" y="135255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61A5A6-280F-46AF-862B-3AF5A119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119" y="138112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V_E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605D3-59FE-4F83-AE64-ABF7A4C2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747" y="135255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EFA8B8-FD57-4A1A-9275-C13F5CCC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372" y="138112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V_D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62E19A-7EB4-436A-908F-CA6633E1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001" y="135255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C5E0DF-A229-4EE3-99C3-2E4A6213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626" y="138112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Roll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F63DDA-ECA0-4432-B30C-B8B13371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55" y="135255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D6EE54-8158-43F9-A19E-8B63C805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880" y="138112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Pitch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4FA728-DCBC-4504-89E5-CBAF1B9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508" y="1352550"/>
            <a:ext cx="1265292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E91938-570C-4A31-BA1B-7512C35D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133" y="1381125"/>
            <a:ext cx="1170042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Yaw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E5FD5F-B2EB-475D-9956-CCE038E6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2130"/>
            <a:ext cx="1210279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976277-B870-4189-BD3F-74B778A7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830705"/>
            <a:ext cx="1115029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413B9A-C6D2-4EDA-B8B0-9527A2E0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479" y="180213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A72D76-BE00-4402-A3FC-991273C2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104" y="183070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3.023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D947D4-120F-4903-B93C-EBBA3ADA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733" y="180213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C5B59E-5D55-4FBA-86E6-5FB7EAA7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358" y="183070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5.607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AD2D0C-7555-4BD5-BC8C-85490869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86" y="180213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48749C-C5C2-4681-B4C7-BE7A9E53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611" y="183070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1.576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23096E-13A8-4634-964A-D4A58269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180213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7E7506-D8D2-4141-A3D2-614D23E1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865" y="183070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0.564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43778D-8B68-491C-A312-91F0136B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494" y="180213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B7A829-1116-4EF4-92FD-13473D12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119" y="183070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1.002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638817-F381-4817-91C1-FEFB2F55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747" y="180213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543388-132D-4F9C-A222-5D7DBE03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372" y="183070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0.067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CD9B08-2325-4544-9491-F0C4C179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001" y="180213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A86BA2-45E5-4CB3-B20C-F39EC373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626" y="183070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0.432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183BCE-78AD-4334-A97D-7ED3B865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55" y="180213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D8639C-F750-4737-A47D-0DB5AC8C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880" y="183070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0.651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2A6F8C-0588-4F45-83A5-4ED157C2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508" y="1802130"/>
            <a:ext cx="1265292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9E02D0-6068-479B-BABA-4E588982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133" y="1830705"/>
            <a:ext cx="1170042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52.057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A66DF1-7DB9-4DEF-926D-2EE990D4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51710"/>
            <a:ext cx="1210279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856F39-BB5C-454A-AE44-9099F417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280285"/>
            <a:ext cx="1115029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BAD466-4F7E-4273-956B-C9DBC972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479" y="225171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8AA74F-B037-48E2-B1DE-D6507193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104" y="228028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3.283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AFD7E7-203B-4F05-A053-195B76C2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733" y="225171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8C40A3-FB51-4F29-99F4-37953D72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358" y="228028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5.425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0A6E34-F21F-416F-972D-F7BF2B28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86" y="225171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FFEAC2-4792-4AB8-81B7-2EAE76A6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611" y="228028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1.577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BC48F0-4637-4FD7-B427-9869B24E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225171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347C4C-A930-4BD1-9330-3B6FB538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865" y="228028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0.616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932B2F-4256-4FEE-A020-7C6FDFA8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494" y="225171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05A091-0086-4561-9FB6-DD0F456A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119" y="228028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0.966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F070B7-22AE-4104-A4DD-9FED877D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747" y="225171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3AAB578-B601-4F6E-8D4F-857A44DD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372" y="228028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0.068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21F7D04-2A81-40F8-AE76-CB7424EA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001" y="225171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5A45E63-7E40-4763-A4DA-F981DAD0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626" y="228028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0.438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1ABB1BF-AD39-4CB7-A5CC-EDA32FFC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55" y="225171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D9EEF20-5646-43C6-8FA4-00099AEE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880" y="228028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0.646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F4E5F7D-09A2-46BF-9B58-CF04E5E7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508" y="2251710"/>
            <a:ext cx="1265292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605AC07-DA67-4619-9522-D9191DCC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133" y="2280285"/>
            <a:ext cx="1170042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55.202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7DF368B-4D0C-4AEE-B33D-3B17BD57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1290"/>
            <a:ext cx="1210279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F0965C-F235-4BF0-9957-64B4DD43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729865"/>
            <a:ext cx="1115029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F3F38BE-F0A7-4040-A465-88433C1E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479" y="270129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5C76EEE-38AD-4532-842C-CD984BDE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104" y="272986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3.181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BE66CE6-0875-43C6-890D-30191661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733" y="270129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46C0221-9DAB-4C03-9B37-14CAD903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358" y="272986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5.302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102D4FA-61F4-4714-B28D-2AF58F22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86" y="270129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B9FDB6D-ADBC-4D53-8FF0-5872F2A1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611" y="272986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1.575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1AF8E0B-0637-4F38-9013-166F4688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270129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DF836AF-BE9C-473D-ABA0-5A5FB3EF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865" y="272986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0.563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CFA23F3-528E-4EE1-8E83-AE1B7519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494" y="270129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1D0444A-02DE-41FB-80FE-EB0C99D7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119" y="272986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0.946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A5F3D1D-7900-4D87-8F8C-79ABDD5A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747" y="270129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0A4DF8D-4CF0-40D0-AFB4-E04552C0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372" y="272986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0.068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316A05D-8352-4F42-9EFD-336B69A4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001" y="270129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CFFC870-3A8E-4C58-A078-F3913989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626" y="272986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0.429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B17CDB-5EFB-4432-A177-7A2157A6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55" y="270129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425B98D-5375-4E09-B395-A2EC51D6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880" y="272986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0.600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811F60B-AAE4-404E-BFDB-F4C2A063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508" y="2701290"/>
            <a:ext cx="1265292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3F76E06-CA49-4EA7-8EDB-75F3306C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133" y="2729865"/>
            <a:ext cx="1170042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32.259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660FABE-B1A6-499A-A3B0-A1AA016C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0870"/>
            <a:ext cx="1210279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B3B56AC-1739-4F45-BFC3-BB165C00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179445"/>
            <a:ext cx="1115029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B215B84-8F3D-40BD-9C08-ABBFC057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479" y="315087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39CE583-5CFE-45A5-A5F2-F3FBAB21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104" y="317944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3.149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F1C7DCA-BAF7-474F-AD62-8DA2AC6E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733" y="315087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1A9EED6-0100-419A-96C7-BA4D3360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358" y="317944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5.232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3F5D437-B2A8-4E10-A0EB-E1A5EAA1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86" y="315087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52B7613-6429-47CA-AA05-AD0C7D79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611" y="317944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1.577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DAA6C8C-536A-4F5B-AA8A-F75FD4C5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315087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92F9638-F06A-4FFC-B270-08253B40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865" y="317944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0.559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A354C6F-4385-4BEC-AB60-3BDBC63C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494" y="315087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C799BD5-C220-4055-8715-7E1042B8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119" y="317944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0.933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EEF38EC-245C-4D50-ADAF-2C1FB418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747" y="315087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DFBF349-9FD5-4222-936A-10379DC5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372" y="317944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0.069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194DB99-057F-4364-8A7C-9AB322B9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001" y="315087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1516F5E-96A8-47CD-870E-0D33F531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626" y="317944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0.433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387B22B-60B6-4869-A2EB-C32698A9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55" y="315087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596968F-BE51-497C-A38E-7D50545E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880" y="317944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0.593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D30CC13-3475-4A53-8708-CE8E9869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508" y="3150870"/>
            <a:ext cx="1265292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F5944F8-8B58-4239-A1E8-2F19175E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133" y="3179445"/>
            <a:ext cx="1170042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30.850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8F9E5DA-FB81-4F25-8E14-590AE741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1210279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F449EEB-EE1C-43C9-804C-1D249CD6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629025"/>
            <a:ext cx="1115029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FAC7A4E-65D8-4E55-AAC6-03E4DA96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479" y="360045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2E1F333-E837-4F11-BEB5-A82C3068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104" y="362902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3.977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5333B7D-D725-42D9-A2EE-FE70BAD7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733" y="360045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29DAB42-1E95-4AFA-AE43-E201F247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358" y="362902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4.336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780C8CA-6A31-4ADE-8C2F-8626DE0F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86" y="360045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AFF2BD0-A6AD-4954-BE1A-E89344E1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611" y="362902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1.578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85E6D1B-1339-44AF-87E4-6CECCD96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360045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2C9D555-9086-46FE-9ADD-95E25898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865" y="362902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0.716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B723D08-90DE-4537-ADEC-012395D7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494" y="360045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632B1E2-8563-4445-BDBF-EFEBB038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119" y="362902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0.757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A96943E-2D0D-4329-8C40-4C1CCF6E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747" y="360045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DE308E3-8A56-4579-B91B-3CEEF5B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372" y="362902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0.070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B705D3D-BE32-419E-9A62-2062C2D1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001" y="360045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8A41D77-9380-4E21-A9E6-934C49AB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626" y="362902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0.436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BCAD7D6-289F-4DF8-87C2-C6E086B0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55" y="360045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60C9060-BF30-428A-A5F0-32C842DE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880" y="362902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0.545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94C7D6E-DD1B-4F9F-A5E2-722D7D1E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508" y="3600450"/>
            <a:ext cx="1265292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5EBC6D0-58D2-4E9A-8C0D-673D02B7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133" y="3629025"/>
            <a:ext cx="1170042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15.209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FF5ED0C-EA19-4FB6-9E8B-FE222C9E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0030"/>
            <a:ext cx="1210279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7F505F2-9D09-47DE-BA29-C56A5940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78605"/>
            <a:ext cx="1115029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P5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8F1FF24-D369-4DA5-B6C2-224E7CAB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479" y="405003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21BD462-2D1A-4156-BB9C-9645DCD3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104" y="407860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3.146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3EB84B-4A8D-4615-BE75-0FD48068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733" y="405003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A2AE62D-CB30-4984-88E8-496EB52C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358" y="407860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5.240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29E397D-CA23-4D41-AB0F-43911C94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86" y="405003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C2D68EE-7DE7-4183-80C3-4BC02F80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611" y="407860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1.577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25E7F78-4074-4B9B-AD20-37AB5749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405003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5D3A38E-6B6C-4B0E-B2DF-CEE418DB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865" y="407860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0.559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B1D44C4-064C-4FE8-A2C4-B3EC849C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494" y="405003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CC31EAF-D6CF-406E-8C54-2FC48342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119" y="407860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0.935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C47C195-CD0B-4B4D-8505-E7386804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747" y="405003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2A8E1A8-0942-4D2F-BDA4-162D23C4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372" y="407860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0.069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2ECA80F-4D9D-43F7-962A-C6FCD0E1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001" y="405003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1E72C03-B6AE-4FBE-BD34-12A20970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626" y="407860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0.433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7674A4E-29A3-458F-A69E-05EB30F2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55" y="405003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CC8AB92-90DA-48DF-8B9A-F36BC3A7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880" y="407860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0.595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203E95B-3351-40A3-A5E4-07C06307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508" y="4050030"/>
            <a:ext cx="1265292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3FE9FA8-81F2-4FDF-8DA8-10F01E03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133" y="4078605"/>
            <a:ext cx="1170042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30.788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3598109-E351-4214-A81A-7BD8E246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9610"/>
            <a:ext cx="1210279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F076066-5848-4154-9234-3BE27FC7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528185"/>
            <a:ext cx="1115029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P6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96C9F27-2219-4036-9ACF-D79C23D4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479" y="449961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672CDD1-C5A8-4F90-BEB2-559C546F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104" y="452818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4.012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FB61A31-0AFA-4B04-843E-F67E1314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733" y="449961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B4C12D8-B894-4C48-8B06-DC146DBB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358" y="452818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4.294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EA5ACD9-5002-432A-9D11-33F1D73C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86" y="449961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43885EB-2FD5-4D54-B654-B019C9CD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611" y="452818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1.579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B46E344-34A2-47D2-A9E2-71DAD0FC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449961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ECA5935-56D7-4E2E-95FA-F696CA23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865" y="452818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0.723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5D97311-883C-4E82-9B74-043D2BAA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494" y="449961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4964C81-087F-48D8-BB02-AE7BEBD2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119" y="452818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0.748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C3791C3-5207-4BF3-9119-E6FDE759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747" y="449961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76BD9C2-B250-450F-8379-292C6981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372" y="452818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0.070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A73A9A4-9095-498A-AF2F-207B2D26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001" y="449961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B537524-E268-4C0F-BBF2-12A34285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626" y="452818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0.434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3C4238A-786F-4266-876B-5B9BE5C5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55" y="449961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2E46CAC-A162-4B79-8348-6C74429E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880" y="452818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0.545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4538568-5860-4282-978A-B2105017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508" y="4499610"/>
            <a:ext cx="1265292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005DA23-AAFE-435B-B0FE-59FAA1BE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133" y="4528185"/>
            <a:ext cx="1170042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13.379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3279CC8-303A-41D8-A03E-15E1F46B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49190"/>
            <a:ext cx="1210279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FCC5D19-6F92-4135-97B2-54251B01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977765"/>
            <a:ext cx="1115029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P7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B50ECBC-92C4-49D7-AC45-2CD9B03A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479" y="494919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25573C9-2371-4E34-AE54-ED444508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104" y="497776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3.159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B45511C-8747-4357-B4F1-35D57BFA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733" y="494919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A6E52DD-20AB-4B88-AA1B-CEC04818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358" y="497776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5.620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D8FC0BE-6AC6-459A-B2FC-9D377003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86" y="494919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F14B3B5-C3D5-476F-8B74-1BDABE5C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611" y="497776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1.574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90A806C8-2C02-484B-B416-EFAF2749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494919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CFAFA2E-6B26-4558-BFE3-BD653F0A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865" y="497776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0.588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A114F2CE-1E7D-4888-9096-2F36D6FA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494" y="494919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F548BF7-96B9-42EB-96ED-25FB11BA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119" y="497776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1.003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D7AF7F3-6816-4452-993C-5F45C3CC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747" y="494919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4FEF524D-78FE-4AFE-94CE-90572C92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372" y="497776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0.067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504157C-3998-4298-AB5B-9060B985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001" y="494919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38B5610-2430-4277-A46E-40D609CC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626" y="497776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0.424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697E70C0-6A55-4DB9-9641-5002B618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55" y="494919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BC36C5D6-AD9E-4FC4-B5B7-C843E2E1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880" y="497776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0.660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7EC2DF34-6688-4B92-9981-25080309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508" y="4949190"/>
            <a:ext cx="1265292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BF33BBF3-5B6C-46A3-91A0-1CEB9F4F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133" y="4977765"/>
            <a:ext cx="1170042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53.713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B99E3BD0-DF71-499A-A6FE-D6B1B6A4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8770"/>
            <a:ext cx="1210279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6E24B101-BC38-4C2B-8940-EC454613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427345"/>
            <a:ext cx="1115029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P8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4A545CBD-A353-4AF1-8116-1CFE696F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479" y="539877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F6A24293-6B49-4307-8271-79F73CBF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104" y="542734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2.954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4C3F1396-3BB4-4949-BA54-EAEC70FC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733" y="539877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C3FC1B31-A040-4933-966F-23FF093D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358" y="542734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5.614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761F0668-0832-4C4A-B34C-F642849F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86" y="539877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48815AF8-2C1D-4530-A7E9-F358D339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611" y="542734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1.576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D7197AC-C946-45AD-8F37-A0A2AC47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539877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96204F4-A9AC-4113-95D5-2B7C4D0F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865" y="542734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0.550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6A38E79-25E3-49BB-8A23-8A6D0CDE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494" y="539877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167C09A4-2500-45B8-A8FA-62F0B156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119" y="542734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1.003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1F47A61-005C-4F0C-A531-A53E1525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747" y="539877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575073AF-58E4-4929-A040-38A5B232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372" y="542734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0.068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16AAE4A-4160-48B2-BD1A-6D5BD631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001" y="539877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485E46C9-787F-4DA5-AAC1-6348547F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626" y="542734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0.433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6130CC5D-F556-4610-9DDC-571906A7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55" y="5398770"/>
            <a:ext cx="1100254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014322DB-11CD-41CF-B8D9-92A8112F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880" y="5427345"/>
            <a:ext cx="1005004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0.646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A25B148C-B2C1-435D-907C-4B7EB50C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508" y="5398770"/>
            <a:ext cx="1265292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705061DA-735A-4444-939F-730847F6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133" y="5427345"/>
            <a:ext cx="1170042" cy="392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50.896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90E8AC2-7234-4846-9099-D3A17396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단위: Position [m] · Velocity [m/s] · Attitude [deg]</a:t>
            </a:r>
          </a:p>
        </p:txBody>
      </p:sp>
    </p:spTree>
    <p:extLst>
      <p:ext uri="{BB962C8B-B14F-4D97-AF65-F5344CB8AC3E}">
        <p14:creationId xmlns:p14="http://schemas.microsoft.com/office/powerpoint/2010/main" val="5747817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40BE00DD-9907-47E9-814D-34AFD187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Appendix B · Q 및 R/K 전체 RMSE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730FA-6F96-472A-845B-1FFD5D5E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9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B0181-5F8B-4315-AE38-62942075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67045-98EE-4206-B293-72EE4093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87909E"/>
                </a:solidFill>
                <a:latin typeface="Malgun Gothic"/>
                <a:ea typeface="Malgun Gothic"/>
                <a:cs typeface="Malgun Gothic"/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15F1D-DCB2-42F3-B3AD-E3548DCE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59912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5155E-11FA-45A5-9C60-5959E41D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285875"/>
            <a:ext cx="150387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B673B-DAC8-4500-9378-4E9154E2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227" y="12573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BFEA1-FDD4-4E81-BDA7-DCAD94E9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852" y="12858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P_N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3BB38-539B-45B4-B527-B167515A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311" y="12573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3D4F9-7788-493E-8386-71215279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936" y="12858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P_E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56158-76AC-4B81-AECF-6998CC57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396" y="12573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74BEC-675F-4E69-9AC4-A2740EFB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021" y="12858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P_D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135BD9-5817-4B55-9228-673CA8A3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480" y="12573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A60D2-BFD7-4E40-AC41-1617D3A9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105" y="12858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V_N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1DD89-568A-41B3-B9D3-18BB3B2E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565" y="12573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CE56A-35E2-45DA-B323-5DD1AEB1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190" y="12858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V_E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CF683-F391-48C2-A396-4795F27A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649" y="12573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AA677-48FF-4E6D-B49C-20AB76F5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274" y="12858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V_D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C1D6BF-409F-4E27-BF75-32E3EF7A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734" y="12573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83A0B-2995-43DF-88F0-E516BEBB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359" y="12858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Roll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C7266-0238-4B64-AAAC-F1E65C58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818" y="12573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A1C942-F6FC-40F3-9ECC-9B534B55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443" y="12858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Pitch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2DFD6B-C863-4D8A-8C40-AA8B655D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903" y="1257300"/>
            <a:ext cx="122599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9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CA9848-DF2F-419F-8CB4-2CA6946B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528" y="1285875"/>
            <a:ext cx="113074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Yaw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7F3E45-A473-4482-8180-C543011B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47825"/>
            <a:ext cx="159912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3E7797-0A73-40BA-B4E1-C37FD003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676400"/>
            <a:ext cx="150387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CFCB5C-B7CA-4513-8C98-DF64C75C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227" y="16478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F4347B-C4C9-4273-A3BB-AF2CB7C2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852" y="16764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0.848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065E57-A205-49D7-B724-B21E4663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311" y="16478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44FA09-4FD7-4FC8-9B95-AF1510EE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936" y="16764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1.805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2A9002-6158-4431-B7CA-8134C0D2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396" y="16478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7A367B-1A7E-4B5C-9D0D-F0BA5836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021" y="16764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1.608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959318-533D-4CD4-90CE-C09D4F56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480" y="16478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57317B-DDA9-4A2D-81DB-FAF02640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105" y="16764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0.262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7009B2-BBB8-4682-95A5-ED5AC358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565" y="16478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BB7862-235D-4069-8B8C-1BC6E7A0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190" y="16764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0.291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81AB0D-A3B6-42D4-BEF4-6DF8186B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649" y="16478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59DB0C-B8D8-41FE-BBA6-27ED853D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274" y="16764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0.073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E8294B-F576-4707-B89A-3033E7EC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734" y="16478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CBF907-DCA4-441D-A172-3C37BC8B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359" y="16764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0.386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9D6741-74B0-479F-8097-692D7ADA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818" y="16478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BC1825-D235-49FE-9E84-98C40853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443" y="16764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0.514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1D3C59-B2DD-4FF0-ABF3-07F6551A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903" y="1647825"/>
            <a:ext cx="122599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F86886-D7D3-411B-AF1F-2E7E3C31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528" y="1676400"/>
            <a:ext cx="113074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19.457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33BBCA-663C-48AD-838F-4E2709C2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38350"/>
            <a:ext cx="159912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5C7FAF-4F7F-4295-A0D7-1AD9C8F0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66925"/>
            <a:ext cx="150387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66155F-71FE-4E93-99F6-76DFB99B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227" y="20383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FAB717-F7A6-49DC-B1B7-4E0A0D91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852" y="20669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17.748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D99EBD-98A3-4979-B9D8-E69327DD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311" y="20383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42EC35-284B-4453-B921-E753B58A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936" y="20669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20.622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5F390B-4742-4331-A325-69DB89C8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396" y="20383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016084-7E78-4E02-B086-475C82AB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021" y="20669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2.411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173BE8-3878-47EB-A806-5B1D7852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480" y="20383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F7AC176-FCB0-4CE9-9F6D-37F83C19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105" y="20669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1.846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4009A9-CCCC-4AC6-850F-AF66C464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565" y="20383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B41520F-AC1C-41B4-93DD-ACFDA195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190" y="20669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2.103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2B822A7-4026-4EF5-8306-9688BB0C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649" y="20383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07E79D-3B4F-4D90-AD1D-690DB783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274" y="20669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0.113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5A829F3-30EE-4F66-BA46-15C17516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734" y="20383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DA1A939-8843-4796-A979-43290CD5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359" y="20669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0.524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996A37-8DF6-4B18-AB9E-D156E90D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818" y="20383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3926870-4A61-416D-996A-7288F980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443" y="20669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0.803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1F517D5-15FD-40DF-A3B3-0FA7F5B4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903" y="2038350"/>
            <a:ext cx="122599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ED68BB-7F46-43D6-AD93-D2A4408C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528" y="2066925"/>
            <a:ext cx="113074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64.067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EA61408-A95D-475F-9113-40010DB1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28875"/>
            <a:ext cx="159912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28A3D22-E0BF-46D4-9478-601BC1B2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57450"/>
            <a:ext cx="150387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4826867-FD75-4AE1-80DA-276865BE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227" y="24288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E868865-7F84-4A3C-88E2-98067884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852" y="24574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1.533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9CF924D-8754-46B6-B6E7-D777931B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311" y="24288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FCEC803-4000-4E6A-850B-54BD15F8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936" y="24574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2.326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674CC11-0AF7-4AE1-92FE-5C5DB6EA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396" y="24288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4DA62B1-85CC-40DA-B854-DF618487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021" y="24574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1.601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3A34376-03AF-4582-BC8A-CDD08748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480" y="24288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F791B29-536D-4EE5-A912-66D211F8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105" y="24574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0.560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3A5A28C-D8BC-40E7-B933-48C4EE2A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565" y="24288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34E3876-8800-41A7-9416-D9469A7E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190" y="24574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0.579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D1853FC-E83F-4E4D-8399-C421D73A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649" y="24288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AB91DC6-02FA-4A6E-A71B-B0F31822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274" y="24574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0.067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E685596-1DC3-4792-8FD8-5C8A8E61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734" y="24288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2A22C4D-1F21-4BE8-80D7-235D930F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359" y="24574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0.628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FE6C749-64AE-42C1-B7CB-1D6C676C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818" y="24288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CB2E404-F222-4088-9C55-BD222B37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443" y="24574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1.139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A1DAFE0-1C79-426F-890C-BF50B960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903" y="2428875"/>
            <a:ext cx="122599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7744FBA-521A-4DC1-8A60-33B30089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528" y="2457450"/>
            <a:ext cx="113074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69.973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805E3E3-C807-4D71-BFFB-7A541609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19400"/>
            <a:ext cx="159912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C9FB0E0-D66F-4BF9-94FE-5ECB9241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847975"/>
            <a:ext cx="150387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Q4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86E54AE-9772-41D0-96F1-3857F7D3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227" y="28194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62B5FEF-ECC2-4A2C-A637-CAB01686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852" y="28479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5.344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1FC1A9E-7D5B-4132-8C49-B5D6F900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311" y="28194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F88694B-0462-4895-966C-133661D1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936" y="28479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7.298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31C2FEF-7838-4851-AFD1-5BD22B0D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396" y="28194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5A3B6A6-37B8-477D-B0D5-613F00D4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021" y="28479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2.324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D58B831-1148-46AE-B5F2-28E70FB4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480" y="28194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7BA6347-B753-45FE-AF84-FCDEDC32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105" y="28479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0.720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11D7DE6-64EA-4ECB-9F88-9C827300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565" y="28194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CB8FE2C-FC74-4FBB-B2A0-AC677043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190" y="28479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0.968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C306B38-4FD6-467C-A083-95E3045E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649" y="28194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D4E5690-81D8-48ED-A4BD-7CBEAC37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274" y="28479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0.112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6761952-5AC3-4DAF-9D8E-D097E18A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734" y="28194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27BF320-DB49-4CD6-A123-00AA9E03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359" y="28479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0.311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1E6D7E8-2BB7-4959-B1F2-5AB2D566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818" y="28194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DA017A1-DE72-42EC-9612-3A3E83B4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443" y="28479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0.385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7D3B70D-2166-4195-A13B-BF8EBDE3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903" y="2819400"/>
            <a:ext cx="122599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D791205-E9AB-4AB2-8C78-C9AFF419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528" y="2847975"/>
            <a:ext cx="113074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31.147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93627B3-8633-487D-8A12-19F8D7BC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09925"/>
            <a:ext cx="159912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5C6F802-78E3-4691-A3AD-9B1F3E48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238500"/>
            <a:ext cx="150387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Q5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380D3B2-022E-484B-8D23-964CCD7C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227" y="32099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B851D9D-C307-446E-AFA6-0D0D7F87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852" y="32385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1.642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C39A8D5-755B-4AD9-8BE7-D30C5542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311" y="32099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33FAF76-3D2D-4E24-BC89-BF9BB1BD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936" y="32385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1.891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A3DB450-D129-4AE4-9518-569DC301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396" y="32099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BD719F5-5FB5-42CB-9C5B-B01E8EE5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021" y="32385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1.585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6FA97EA-B8BB-411E-B4F9-691807AD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480" y="32099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7408262-07ED-4940-9C7F-46AA9405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105" y="32385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0.364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2F055D7-E0E6-428C-935B-E51C9724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565" y="32099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26FF69E-EDEB-4F8D-85CD-EDEA078A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190" y="32385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0.261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4E9FD31-8912-408B-8B54-815A5593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649" y="32099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BFA8968-3429-4044-8938-48143B07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274" y="32385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0.072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5398791-4D73-47B6-8ABB-C36012F3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734" y="32099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5375F6B-86D8-486B-8846-3A25CF23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359" y="32385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0.209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A29D470-3B88-4D68-988D-1E8E4FB4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818" y="32099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1815EFE-47B1-4ACE-9FBA-69379350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443" y="32385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0.228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FDE136A-7F3D-4A07-9E68-41460A94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903" y="3209925"/>
            <a:ext cx="122599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08D2C35-8D6E-4E31-9CA8-C4FD428A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528" y="3238500"/>
            <a:ext cx="113074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9.042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5C2376F-476E-4F23-9416-5AC4DE7B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00450"/>
            <a:ext cx="159912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ACB6091-352F-421B-8CFC-9DF0E382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629025"/>
            <a:ext cx="150387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0D5C3BE-2A8C-45C4-BDA9-DB309044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227" y="36004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06D4E67-512F-404D-B777-2669D42F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852" y="36290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12.439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8627433-AD01-40FE-A18B-01C7257E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311" y="36004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1E8B049-DE31-4C1B-95AB-843A8E5F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936" y="36290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5.644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FC2CF53-EBC1-42D7-8135-DC320959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396" y="36004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51A7030-B2CF-435B-9EA9-A6DCAAB8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021" y="36290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1.555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DB84BB9-CD76-4643-8FF9-B87F0570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480" y="36004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51DC3B6-A483-4331-8207-2EEF81D7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105" y="36290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2.110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6875352-386C-48EF-A360-41598054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565" y="36004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3F7ACD7-E8F1-4CA8-9131-BDD43BA2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190" y="36290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0.902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49BE656-520C-4A8E-A057-490C98DF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649" y="36004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651EF95-3DB8-49F4-9B8F-F7415A82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274" y="36290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0.062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EADD2A4-488E-4C1E-9B8C-37EB584A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734" y="36004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F6A4552-B7AE-4A67-8B45-0BE913A8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359" y="36290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0.619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9E3D4D5-FCF0-4E6B-B319-F2E8CA53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818" y="36004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6BD5614-3C7A-4D43-AF81-4F6E4D8D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443" y="36290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1.267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81C5C90-3670-4BF2-B143-52407302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903" y="3600450"/>
            <a:ext cx="122599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42115AE-B2BE-41F2-BE29-44366CEA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528" y="3629025"/>
            <a:ext cx="113074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88.892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23A23E5-E5AD-4A5F-B55C-57E82D32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90975"/>
            <a:ext cx="159912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7D4A331-BB78-4E68-A2C4-0D593B73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19550"/>
            <a:ext cx="150387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Q7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5CD5B36-30D7-4D1A-B0FF-FF323C26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227" y="39909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0B3040A-5C93-4AA0-868B-4F42188C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852" y="40195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3.025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F66A682-95D2-4EA8-9854-8DC4789D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311" y="39909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60671C4-33B7-49FC-814F-791A1E27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936" y="40195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5.608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B9E9295-6754-4FDA-B574-8193E2F7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396" y="39909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9B1709A-F885-4046-AFD9-C94BDB2A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021" y="40195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1.621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078310F-6509-44BB-B8D0-4D4B5F35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480" y="39909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F12E1AD-ECAA-423D-91C5-326A8A5F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105" y="40195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0.565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60865DA-A4FC-4970-A32A-4696E466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565" y="39909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B2DA08B-B30D-4C25-BFE5-B691DA33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190" y="40195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1.002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70FF956-751E-4F85-9927-4C549E4A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649" y="39909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B706DFE-1686-4170-A0C7-43994021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274" y="40195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0.077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BD6C367-A9E9-47A2-8EE9-B0F01B52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734" y="39909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0A83162-E0A0-4E7E-A335-DCB400E1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359" y="40195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0.432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100B47FC-62D8-47D5-80A1-B23240F7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818" y="39909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3987DF9-78A5-444D-98F5-E1F61C9E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443" y="40195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0.652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CFFA56F-8E5F-4848-9A69-1A985E2A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903" y="3990975"/>
            <a:ext cx="122599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EEEC9BF8-4684-491C-98B5-71AFC56C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528" y="4019550"/>
            <a:ext cx="113074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52.117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9368117-C4C9-47C7-9465-E55CA5EE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81500"/>
            <a:ext cx="159912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6492506-238E-40A8-A50E-DF20398B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10075"/>
            <a:ext cx="150387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Q8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E5C917C-81FF-452E-B46B-C2B1C75B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227" y="43815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B956E5A6-8EAA-4DFE-A478-24F70448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852" y="44100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3.011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A365A099-F4C3-41C7-9F96-EE002ECF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311" y="43815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03DA4A8B-3A02-4CA1-A714-3BB25065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936" y="44100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5.594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31FDA84-F461-44A6-82BE-5ED9A7AF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396" y="43815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8596B4B-15B5-4AC5-ACB1-CE80D50E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021" y="44100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1.576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5ACAA4C-9E8E-44F5-B843-46114DC4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480" y="43815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5D2F578-752B-4656-8DE3-5D3B9ED8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105" y="44100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0.562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2F3BB06-BC62-435D-8D8C-C3E0B8EA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565" y="43815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3E9AA8C6-8060-4B08-AA5B-DB8FDC63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190" y="44100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1.000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2BE30D4-6FFF-46DC-AD88-F7E35B15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649" y="43815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A77BC367-949A-426F-87A2-F90DEA86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274" y="44100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0.067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49D28E8-AE9F-40B4-9029-8585950C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734" y="43815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1B351FA-E449-45FF-BC3B-208522FB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359" y="44100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0.431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68D8D7C-0780-4F62-9CED-7252DFD1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818" y="438150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EBA2E9CC-10D2-4F54-9CAD-A0CFB325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443" y="441007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0.650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0C4A395-8350-4F92-86AB-1343A174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903" y="4381500"/>
            <a:ext cx="122599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97C0A18-0DFF-4B61-BA33-BFB2FF5C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528" y="4410075"/>
            <a:ext cx="113074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51.969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B506B93-2D9D-4606-A75A-5D6A2D31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72025"/>
            <a:ext cx="159912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8A30F47-65E4-424D-9217-9DE5A5B3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800600"/>
            <a:ext cx="150387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Adaptive R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586C67E8-C6EF-41C8-81D1-C27F44C0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227" y="47720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7648AB26-F2F8-48F8-97C6-E4CDC3C7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852" y="48006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3.039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03DC5AA-7797-4688-B31B-EB8385E9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311" y="47720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6C2D562-A9D0-42E8-B0FB-1523FD4A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936" y="48006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5.441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025BCF76-FDFF-4286-8867-3FE6E4B3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396" y="47720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67DD33BE-92C7-404A-8D18-0A28DAFA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021" y="48006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0.596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654115E1-C402-4C71-B49F-1F185AA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480" y="47720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2D2B8D1B-AEA5-4DFA-AB37-DCFA3F8B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105" y="48006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0.563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91907306-C124-4F23-B62C-6D4EE6D5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565" y="47720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ED376387-1EF4-47AC-9C3E-C83491E7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190" y="48006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1.001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4ACA9EA-234B-4E7E-A26C-86CE6033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649" y="47720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6EB8BDA9-636B-404C-BD0D-7C81106F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274" y="48006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0.054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E71FCAC-A9CA-47E4-9BD2-1D73C9D4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734" y="47720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9A7A1839-1937-48AC-8C19-7C4EB485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359" y="48006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0.432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2334832A-B3E2-4F47-8027-947248C5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818" y="477202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7B09032-E64C-4237-867D-4E0E47F1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443" y="480060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0.651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77297592-6DFE-45C6-B65E-E848CCED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903" y="4772025"/>
            <a:ext cx="122599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6E10D02E-CFD0-4087-A57B-2790BA1E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528" y="4800600"/>
            <a:ext cx="113074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51.738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71C1263-8ECD-42C6-B913-BAE311A8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62550"/>
            <a:ext cx="159912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00DD4E0D-0380-4AC7-9CC7-19237A0B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191125"/>
            <a:ext cx="150387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Adaptive R+K15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8C14A6AD-51FC-4CD3-AB4E-71B7316F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227" y="51625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1F36BB22-99F1-402E-B4CE-3BE91367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852" y="51911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3.676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34E2756E-0D77-46F8-A919-C75F0BCA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311" y="51625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62274698-EC3D-40DB-B49F-0E694D4A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936" y="51911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2.478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D1245297-5B5C-490C-9D47-4678B09E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396" y="51625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825286CE-3E77-4359-999A-C4C50639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021" y="51911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0.593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5DF51B97-0C19-48BA-A929-28E79C3E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480" y="51625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E52AE185-0124-4F18-A6E7-41AB98E9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105" y="51911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0.677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567A17A1-4736-4668-9689-BC9DA390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565" y="51625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7ECB6EFC-43A8-4477-B193-926588CF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190" y="51911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0.469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9F433F9D-64F1-44B6-8E44-250F7567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649" y="51625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D0CF03AD-F95E-44F3-81F6-1EE9763E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274" y="51911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0.055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A84E6DD7-BDCB-4732-A69F-BF434C8B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734" y="51625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D48139A9-B2FE-4E18-9E59-5E11524D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359" y="51911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0.327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A975F75-A6A5-4357-B2DC-66159E52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818" y="5162550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A279D0E6-BFE9-4B70-BB37-F7AEF6F3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443" y="5191125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0.457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C5A6F38D-9B82-45CC-8691-EBC38438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903" y="5162550"/>
            <a:ext cx="122599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369356E-3877-43AC-9A78-B8247CA1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528" y="5191125"/>
            <a:ext cx="113074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13.811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8847AFCD-B8CA-4B32-B3CA-333BA01A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53075"/>
            <a:ext cx="159912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998DFC6E-DABD-49C0-BF46-D8EC9088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581650"/>
            <a:ext cx="150387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Fixed R+K13:15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8899047-DF10-401D-8378-CBC4C5E7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227" y="55530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ED9A9F47-ADF1-4616-B408-CB1D01B8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852" y="55816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0.362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0E5B5DF2-824C-44CE-850B-2FC9BFFF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311" y="55530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ACA0538E-390E-4270-8531-39D4290A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936" y="55816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1.676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7F8B535-1A96-4DF0-86C9-665A6907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396" y="55530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163CE2A-D723-43EC-A9B3-3D7F9276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021" y="55816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1.582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2A6DFCCA-7D68-46DC-A7BE-3723A26A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480" y="55530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398C4E6B-90AD-4FC6-8869-9BFE1EFE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105" y="55816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0.052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1AF49A33-BD52-489E-9D5B-1501D183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565" y="55530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0E2CB0C9-38BD-48C2-8691-C6542564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190" y="55816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0.046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BD522250-F17A-4139-8D74-9CC43FA0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649" y="55530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6C0D52FA-7305-4D39-8B06-AFF36294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274" y="55816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0.074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2B9270D2-B64E-43E7-AB14-5CC174C4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734" y="55530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C7F605C1-21D4-469D-86E3-20353B3B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359" y="55816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0.136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BBB48115-3F8B-4CF1-8B86-467588A0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818" y="5553075"/>
            <a:ext cx="106608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FDB5833F-E1D0-446A-B81D-A54CB3C1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443" y="5581650"/>
            <a:ext cx="97083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0.144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156D0BEB-1955-4A93-B04F-751FC4DC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903" y="5553075"/>
            <a:ext cx="122599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68BB215E-6B6A-4107-9740-F1FB57D5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528" y="5581650"/>
            <a:ext cx="113074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8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3.070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F4632893-7360-4682-A8DE-ACB5CEC4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10"/>
          </a:bodyPr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단위: Position [m] · Velocity [m/s] · Attitude [deg] · 모든 값은 동일 로그를 재실행해 산출</a:t>
            </a:r>
          </a:p>
        </p:txBody>
      </p:sp>
    </p:spTree>
    <p:extLst>
      <p:ext uri="{BB962C8B-B14F-4D97-AF65-F5344CB8AC3E}">
        <p14:creationId xmlns:p14="http://schemas.microsoft.com/office/powerpoint/2010/main" val="1398594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2026-08-26T04:39:44.0800000Z</dcterms:created>
  <dcterms:modified xsi:type="dcterms:W3CDTF">2026-08-26T04:39:44.0800000Z</dcterms:modified>
</coreProperties>
</file>